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70" d="100"/>
          <a:sy n="70" d="100"/>
        </p:scale>
        <p:origin x="30" y="-22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8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6BBF2B31-A59A-4554-946C-18FB5AAA130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1C21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B226D2D-D423-4277-9B28-2B0C901AEF81}"/>
              </a:ext>
            </a:extLst>
          </p:cNvPr>
          <p:cNvSpPr txBox="1"/>
          <p:nvPr/>
        </p:nvSpPr>
        <p:spPr>
          <a:xfrm>
            <a:off x="635000" y="381000"/>
            <a:ext cx="2286000" cy="22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GB" sz="1000" b="1" dirty="0">
                <a:solidFill>
                  <a:srgbClr val="4FE0B3"/>
                </a:solidFill>
                <a:latin typeface="Aptos"/>
              </a:rPr>
              <a:t>HACKATHON CONCEPT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F9B5B19-4A83-458E-891E-B73626B75B12}"/>
              </a:ext>
            </a:extLst>
          </p:cNvPr>
          <p:cNvSpPr/>
          <p:nvPr/>
        </p:nvSpPr>
        <p:spPr>
          <a:xfrm>
            <a:off x="635000" y="685800"/>
            <a:ext cx="1397000" cy="38100"/>
          </a:xfrm>
          <a:prstGeom prst="rect">
            <a:avLst/>
          </a:prstGeom>
          <a:solidFill>
            <a:srgbClr val="4FE0B3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73C9B3A-33EE-4D3E-AD20-DE80320A70BF}"/>
              </a:ext>
            </a:extLst>
          </p:cNvPr>
          <p:cNvSpPr txBox="1"/>
          <p:nvPr/>
        </p:nvSpPr>
        <p:spPr>
          <a:xfrm>
            <a:off x="635000" y="1168400"/>
            <a:ext cx="6477000" cy="1422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l"/>
            <a:r>
              <a:rPr lang="en-GB" sz="3000" b="1">
                <a:solidFill>
                  <a:srgbClr val="F6FAF9"/>
                </a:solidFill>
                <a:latin typeface="Aptos"/>
              </a:rPr>
              <a:t>DoseDeck — AI-Powered
Pharmacy Management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AE3DAEC-F1FE-4D46-9BEF-D1407044435E}"/>
              </a:ext>
            </a:extLst>
          </p:cNvPr>
          <p:cNvSpPr txBox="1"/>
          <p:nvPr/>
        </p:nvSpPr>
        <p:spPr>
          <a:xfrm>
            <a:off x="635000" y="2819400"/>
            <a:ext cx="6350000" cy="584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l"/>
            <a:r>
              <a:rPr lang="en-IN">
                <a:solidFill>
                  <a:srgbClr val="A9CED0"/>
                </a:solidFill>
                <a:latin typeface="Aptos"/>
              </a:rPr>
              <a:t>Smarter inventory. Lower expiry losses. Faster billing.</a:t>
            </a:r>
            <a:endParaRPr lang="en-GB">
              <a:solidFill>
                <a:srgbClr val="A9CED0"/>
              </a:solidFill>
              <a:latin typeface="Aptos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CA6EF544-6F75-485A-94A8-3A2EF09D8BB3}"/>
              </a:ext>
            </a:extLst>
          </p:cNvPr>
          <p:cNvSpPr/>
          <p:nvPr/>
        </p:nvSpPr>
        <p:spPr>
          <a:xfrm>
            <a:off x="7645400" y="889000"/>
            <a:ext cx="3810000" cy="4064000"/>
          </a:xfrm>
          <a:prstGeom prst="roundRect">
            <a:avLst/>
          </a:prstGeom>
          <a:solidFill>
            <a:srgbClr val="10343A"/>
          </a:solidFill>
          <a:ln w="12700" cap="flat" cmpd="sng" algn="ctr">
            <a:solidFill>
              <a:srgbClr val="24545B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CBDD52A-FEF4-45CE-AD0D-B2AFF154538F}"/>
              </a:ext>
            </a:extLst>
          </p:cNvPr>
          <p:cNvSpPr txBox="1"/>
          <p:nvPr/>
        </p:nvSpPr>
        <p:spPr>
          <a:xfrm>
            <a:off x="7924800" y="1117600"/>
            <a:ext cx="2667000" cy="254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l"/>
            <a:r>
              <a:rPr lang="en-GB" sz="900" b="1">
                <a:solidFill>
                  <a:srgbClr val="4FE0B3"/>
                </a:solidFill>
                <a:latin typeface="Aptos"/>
              </a:rPr>
              <a:t>LIVE PHARMACY CONTROL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BE51EFE7-EFCE-4318-A2C3-7C3B157109C2}"/>
              </a:ext>
            </a:extLst>
          </p:cNvPr>
          <p:cNvSpPr/>
          <p:nvPr/>
        </p:nvSpPr>
        <p:spPr>
          <a:xfrm>
            <a:off x="10871200" y="1117600"/>
            <a:ext cx="177800" cy="177800"/>
          </a:xfrm>
          <a:prstGeom prst="ellipse">
            <a:avLst/>
          </a:prstGeom>
          <a:solidFill>
            <a:srgbClr val="4FE0B3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2B2F43D1-F915-4C18-B175-3AB6CA454CCE}"/>
              </a:ext>
            </a:extLst>
          </p:cNvPr>
          <p:cNvSpPr/>
          <p:nvPr/>
        </p:nvSpPr>
        <p:spPr>
          <a:xfrm>
            <a:off x="7924800" y="1574800"/>
            <a:ext cx="990600" cy="812800"/>
          </a:xfrm>
          <a:prstGeom prst="roundRect">
            <a:avLst/>
          </a:prstGeom>
          <a:solidFill>
            <a:srgbClr val="153F45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6C8426C-CD89-46A8-BDF6-D355D7F693FF}"/>
              </a:ext>
            </a:extLst>
          </p:cNvPr>
          <p:cNvSpPr txBox="1"/>
          <p:nvPr/>
        </p:nvSpPr>
        <p:spPr>
          <a:xfrm>
            <a:off x="8077200" y="1701800"/>
            <a:ext cx="7112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GB" sz="1500" b="1">
                <a:solidFill>
                  <a:srgbClr val="F6FAF9"/>
                </a:solidFill>
                <a:latin typeface="Aptos"/>
              </a:rPr>
              <a:t>12.5k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BAA0042-6135-4515-81BD-D8051F7225CC}"/>
              </a:ext>
            </a:extLst>
          </p:cNvPr>
          <p:cNvSpPr txBox="1"/>
          <p:nvPr/>
        </p:nvSpPr>
        <p:spPr>
          <a:xfrm>
            <a:off x="8077200" y="2006600"/>
            <a:ext cx="711200" cy="177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GB" sz="900">
                <a:solidFill>
                  <a:srgbClr val="A9CED0"/>
                </a:solidFill>
                <a:latin typeface="Aptos"/>
              </a:rPr>
              <a:t>units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FF372E8C-3843-49E3-9533-43F4A9043CD9}"/>
              </a:ext>
            </a:extLst>
          </p:cNvPr>
          <p:cNvSpPr/>
          <p:nvPr/>
        </p:nvSpPr>
        <p:spPr>
          <a:xfrm>
            <a:off x="9042400" y="1574800"/>
            <a:ext cx="990600" cy="812800"/>
          </a:xfrm>
          <a:prstGeom prst="roundRect">
            <a:avLst/>
          </a:prstGeom>
          <a:solidFill>
            <a:srgbClr val="153F45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33BBF25-39F1-4DDA-9497-52945A81EC7F}"/>
              </a:ext>
            </a:extLst>
          </p:cNvPr>
          <p:cNvSpPr txBox="1"/>
          <p:nvPr/>
        </p:nvSpPr>
        <p:spPr>
          <a:xfrm>
            <a:off x="9194800" y="1701800"/>
            <a:ext cx="6858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GB" sz="1600" b="1">
                <a:solidFill>
                  <a:srgbClr val="D6FF3F"/>
                </a:solidFill>
                <a:latin typeface="Aptos"/>
              </a:rPr>
              <a:t>38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6D1E6E9-24C4-4AFA-B3F9-A6B45B3D09B8}"/>
              </a:ext>
            </a:extLst>
          </p:cNvPr>
          <p:cNvSpPr txBox="1"/>
          <p:nvPr/>
        </p:nvSpPr>
        <p:spPr>
          <a:xfrm>
            <a:off x="9144000" y="2006600"/>
            <a:ext cx="787400" cy="177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GB" sz="900">
                <a:solidFill>
                  <a:srgbClr val="A9CED0"/>
                </a:solidFill>
                <a:latin typeface="Aptos"/>
              </a:rPr>
              <a:t>low stock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E1874AF4-9324-46D7-8872-EC19F74CEB25}"/>
              </a:ext>
            </a:extLst>
          </p:cNvPr>
          <p:cNvSpPr/>
          <p:nvPr/>
        </p:nvSpPr>
        <p:spPr>
          <a:xfrm>
            <a:off x="10160000" y="1574800"/>
            <a:ext cx="990600" cy="812800"/>
          </a:xfrm>
          <a:prstGeom prst="roundRect">
            <a:avLst/>
          </a:prstGeom>
          <a:solidFill>
            <a:srgbClr val="153F45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6336C20-CC35-492C-A74D-D7CB0D7E2C2E}"/>
              </a:ext>
            </a:extLst>
          </p:cNvPr>
          <p:cNvSpPr txBox="1"/>
          <p:nvPr/>
        </p:nvSpPr>
        <p:spPr>
          <a:xfrm>
            <a:off x="10312400" y="1701800"/>
            <a:ext cx="6858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GB" sz="1600" b="1">
                <a:solidFill>
                  <a:srgbClr val="FF735F"/>
                </a:solidFill>
                <a:latin typeface="Aptos"/>
              </a:rPr>
              <a:t>17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94E5CBF-101B-4B0F-8AB4-8F5A57A38421}"/>
              </a:ext>
            </a:extLst>
          </p:cNvPr>
          <p:cNvSpPr txBox="1"/>
          <p:nvPr/>
        </p:nvSpPr>
        <p:spPr>
          <a:xfrm>
            <a:off x="10261600" y="2006600"/>
            <a:ext cx="787400" cy="177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GB" sz="900">
                <a:solidFill>
                  <a:srgbClr val="A9CED0"/>
                </a:solidFill>
                <a:latin typeface="Aptos"/>
              </a:rPr>
              <a:t>expiry risk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A8F7C2F-84FE-4FE1-A5EC-E1DC485226FF}"/>
              </a:ext>
            </a:extLst>
          </p:cNvPr>
          <p:cNvSpPr txBox="1"/>
          <p:nvPr/>
        </p:nvSpPr>
        <p:spPr>
          <a:xfrm>
            <a:off x="7924800" y="2667000"/>
            <a:ext cx="1905000" cy="203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GB" sz="900" b="1">
                <a:solidFill>
                  <a:srgbClr val="A9CED0"/>
                </a:solidFill>
                <a:latin typeface="Aptos"/>
              </a:rPr>
              <a:t>BATCH &amp; SHELF VIEW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63C9C4D-C255-456C-86EC-F917A3CBCF26}"/>
              </a:ext>
            </a:extLst>
          </p:cNvPr>
          <p:cNvSpPr/>
          <p:nvPr/>
        </p:nvSpPr>
        <p:spPr>
          <a:xfrm>
            <a:off x="7924800" y="3327400"/>
            <a:ext cx="3225800" cy="25400"/>
          </a:xfrm>
          <a:prstGeom prst="rect">
            <a:avLst/>
          </a:prstGeom>
          <a:solidFill>
            <a:srgbClr val="2D5960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9153A33A-414D-4EB5-9698-D91AC9F6922B}"/>
              </a:ext>
            </a:extLst>
          </p:cNvPr>
          <p:cNvSpPr/>
          <p:nvPr/>
        </p:nvSpPr>
        <p:spPr>
          <a:xfrm>
            <a:off x="7950200" y="3022600"/>
            <a:ext cx="431800" cy="254000"/>
          </a:xfrm>
          <a:prstGeom prst="roundRect">
            <a:avLst/>
          </a:prstGeom>
          <a:solidFill>
            <a:srgbClr val="1B4A50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9E82CCF-5042-469E-9D24-C597221CE909}"/>
              </a:ext>
            </a:extLst>
          </p:cNvPr>
          <p:cNvSpPr/>
          <p:nvPr/>
        </p:nvSpPr>
        <p:spPr>
          <a:xfrm>
            <a:off x="8001000" y="3073400"/>
            <a:ext cx="50800" cy="152400"/>
          </a:xfrm>
          <a:prstGeom prst="rect">
            <a:avLst/>
          </a:prstGeom>
          <a:solidFill>
            <a:srgbClr val="4FE0B3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8F291710-736B-4628-87FA-46AC0B6B577A}"/>
              </a:ext>
            </a:extLst>
          </p:cNvPr>
          <p:cNvSpPr/>
          <p:nvPr/>
        </p:nvSpPr>
        <p:spPr>
          <a:xfrm>
            <a:off x="8470900" y="3022600"/>
            <a:ext cx="431800" cy="254000"/>
          </a:xfrm>
          <a:prstGeom prst="roundRect">
            <a:avLst/>
          </a:prstGeom>
          <a:solidFill>
            <a:srgbClr val="1B4A50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222F85C-516C-4C0E-B447-8BD3D9F83044}"/>
              </a:ext>
            </a:extLst>
          </p:cNvPr>
          <p:cNvSpPr/>
          <p:nvPr/>
        </p:nvSpPr>
        <p:spPr>
          <a:xfrm>
            <a:off x="8521700" y="3073400"/>
            <a:ext cx="50800" cy="152400"/>
          </a:xfrm>
          <a:prstGeom prst="rect">
            <a:avLst/>
          </a:prstGeom>
          <a:solidFill>
            <a:srgbClr val="4FE0B3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82A76CF8-450C-4354-9B65-2668C4734352}"/>
              </a:ext>
            </a:extLst>
          </p:cNvPr>
          <p:cNvSpPr/>
          <p:nvPr/>
        </p:nvSpPr>
        <p:spPr>
          <a:xfrm>
            <a:off x="8991600" y="3022600"/>
            <a:ext cx="431800" cy="254000"/>
          </a:xfrm>
          <a:prstGeom prst="roundRect">
            <a:avLst/>
          </a:prstGeom>
          <a:solidFill>
            <a:srgbClr val="1B4A50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2FAC0F76-B13A-4AED-A772-2528C4258149}"/>
              </a:ext>
            </a:extLst>
          </p:cNvPr>
          <p:cNvSpPr/>
          <p:nvPr/>
        </p:nvSpPr>
        <p:spPr>
          <a:xfrm>
            <a:off x="9042400" y="3073400"/>
            <a:ext cx="50800" cy="152400"/>
          </a:xfrm>
          <a:prstGeom prst="rect">
            <a:avLst/>
          </a:prstGeom>
          <a:solidFill>
            <a:srgbClr val="4FE0B3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B9B40CB6-B44D-4F46-9FCF-BABAC9DFEC46}"/>
              </a:ext>
            </a:extLst>
          </p:cNvPr>
          <p:cNvSpPr/>
          <p:nvPr/>
        </p:nvSpPr>
        <p:spPr>
          <a:xfrm>
            <a:off x="9512300" y="3022600"/>
            <a:ext cx="431800" cy="254000"/>
          </a:xfrm>
          <a:prstGeom prst="roundRect">
            <a:avLst/>
          </a:prstGeom>
          <a:solidFill>
            <a:srgbClr val="1B4A50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1AE6CF8-E0E2-4AAB-9413-7F97294279B9}"/>
              </a:ext>
            </a:extLst>
          </p:cNvPr>
          <p:cNvSpPr/>
          <p:nvPr/>
        </p:nvSpPr>
        <p:spPr>
          <a:xfrm>
            <a:off x="9563100" y="3073400"/>
            <a:ext cx="50800" cy="152400"/>
          </a:xfrm>
          <a:prstGeom prst="rect">
            <a:avLst/>
          </a:prstGeom>
          <a:solidFill>
            <a:srgbClr val="4FE0B3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6E84D8ED-5DF9-4E73-A0B2-3A0A4ACB60F8}"/>
              </a:ext>
            </a:extLst>
          </p:cNvPr>
          <p:cNvSpPr/>
          <p:nvPr/>
        </p:nvSpPr>
        <p:spPr>
          <a:xfrm>
            <a:off x="10033000" y="3022600"/>
            <a:ext cx="431800" cy="254000"/>
          </a:xfrm>
          <a:prstGeom prst="roundRect">
            <a:avLst/>
          </a:prstGeom>
          <a:solidFill>
            <a:srgbClr val="1B4A50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BC65D28-A411-4F44-B1F7-7DDAAB5803D2}"/>
              </a:ext>
            </a:extLst>
          </p:cNvPr>
          <p:cNvSpPr/>
          <p:nvPr/>
        </p:nvSpPr>
        <p:spPr>
          <a:xfrm>
            <a:off x="10083800" y="3073400"/>
            <a:ext cx="50800" cy="152400"/>
          </a:xfrm>
          <a:prstGeom prst="rect">
            <a:avLst/>
          </a:prstGeom>
          <a:solidFill>
            <a:srgbClr val="4FE0B3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F9C79664-FB7C-4620-8BB4-FBD13618B7CE}"/>
              </a:ext>
            </a:extLst>
          </p:cNvPr>
          <p:cNvSpPr/>
          <p:nvPr/>
        </p:nvSpPr>
        <p:spPr>
          <a:xfrm>
            <a:off x="10553700" y="3022600"/>
            <a:ext cx="355600" cy="254000"/>
          </a:xfrm>
          <a:prstGeom prst="roundRect">
            <a:avLst/>
          </a:prstGeom>
          <a:solidFill>
            <a:srgbClr val="1B4A50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20AB25E1-EC3E-4E11-BFF9-12D0B368A82D}"/>
              </a:ext>
            </a:extLst>
          </p:cNvPr>
          <p:cNvSpPr/>
          <p:nvPr/>
        </p:nvSpPr>
        <p:spPr>
          <a:xfrm>
            <a:off x="10604500" y="3073400"/>
            <a:ext cx="50800" cy="152400"/>
          </a:xfrm>
          <a:prstGeom prst="rect">
            <a:avLst/>
          </a:prstGeom>
          <a:solidFill>
            <a:srgbClr val="4FE0B3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371DCC9D-3510-4506-B453-F206BFDBFF78}"/>
              </a:ext>
            </a:extLst>
          </p:cNvPr>
          <p:cNvSpPr/>
          <p:nvPr/>
        </p:nvSpPr>
        <p:spPr>
          <a:xfrm>
            <a:off x="7924800" y="3886200"/>
            <a:ext cx="3225800" cy="25400"/>
          </a:xfrm>
          <a:prstGeom prst="rect">
            <a:avLst/>
          </a:prstGeom>
          <a:solidFill>
            <a:srgbClr val="2D5960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093421BD-3302-43B6-98DC-80A89D8A650D}"/>
              </a:ext>
            </a:extLst>
          </p:cNvPr>
          <p:cNvSpPr/>
          <p:nvPr/>
        </p:nvSpPr>
        <p:spPr>
          <a:xfrm>
            <a:off x="7950200" y="3581400"/>
            <a:ext cx="431800" cy="254000"/>
          </a:xfrm>
          <a:prstGeom prst="roundRect">
            <a:avLst/>
          </a:prstGeom>
          <a:solidFill>
            <a:srgbClr val="1B4A50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B64AB3A6-CE1A-43BF-9CE6-36175D4037EC}"/>
              </a:ext>
            </a:extLst>
          </p:cNvPr>
          <p:cNvSpPr/>
          <p:nvPr/>
        </p:nvSpPr>
        <p:spPr>
          <a:xfrm>
            <a:off x="8001000" y="3632200"/>
            <a:ext cx="50800" cy="152400"/>
          </a:xfrm>
          <a:prstGeom prst="rect">
            <a:avLst/>
          </a:prstGeom>
          <a:solidFill>
            <a:srgbClr val="5EC8E5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15D18E27-7225-410D-9203-5FBB616ACF92}"/>
              </a:ext>
            </a:extLst>
          </p:cNvPr>
          <p:cNvSpPr/>
          <p:nvPr/>
        </p:nvSpPr>
        <p:spPr>
          <a:xfrm>
            <a:off x="8470900" y="3581400"/>
            <a:ext cx="431800" cy="254000"/>
          </a:xfrm>
          <a:prstGeom prst="roundRect">
            <a:avLst/>
          </a:prstGeom>
          <a:solidFill>
            <a:srgbClr val="1B4A50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CF7B6498-484C-425C-A283-C0B2840687CD}"/>
              </a:ext>
            </a:extLst>
          </p:cNvPr>
          <p:cNvSpPr/>
          <p:nvPr/>
        </p:nvSpPr>
        <p:spPr>
          <a:xfrm>
            <a:off x="8521700" y="3632200"/>
            <a:ext cx="50800" cy="152400"/>
          </a:xfrm>
          <a:prstGeom prst="rect">
            <a:avLst/>
          </a:prstGeom>
          <a:solidFill>
            <a:srgbClr val="5EC8E5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B6585190-5D7D-4467-BA31-FA1B63E080C8}"/>
              </a:ext>
            </a:extLst>
          </p:cNvPr>
          <p:cNvSpPr/>
          <p:nvPr/>
        </p:nvSpPr>
        <p:spPr>
          <a:xfrm>
            <a:off x="8991600" y="3581400"/>
            <a:ext cx="431800" cy="254000"/>
          </a:xfrm>
          <a:prstGeom prst="roundRect">
            <a:avLst/>
          </a:prstGeom>
          <a:solidFill>
            <a:srgbClr val="1B4A50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BF19FB1C-4B93-4A53-B4B8-6AF61177D6DB}"/>
              </a:ext>
            </a:extLst>
          </p:cNvPr>
          <p:cNvSpPr/>
          <p:nvPr/>
        </p:nvSpPr>
        <p:spPr>
          <a:xfrm>
            <a:off x="9042400" y="3632200"/>
            <a:ext cx="50800" cy="152400"/>
          </a:xfrm>
          <a:prstGeom prst="rect">
            <a:avLst/>
          </a:prstGeom>
          <a:solidFill>
            <a:srgbClr val="5EC8E5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80B9BFF7-B358-4401-AC8F-058D6D67CEB7}"/>
              </a:ext>
            </a:extLst>
          </p:cNvPr>
          <p:cNvSpPr/>
          <p:nvPr/>
        </p:nvSpPr>
        <p:spPr>
          <a:xfrm>
            <a:off x="9512300" y="3581400"/>
            <a:ext cx="431800" cy="254000"/>
          </a:xfrm>
          <a:prstGeom prst="roundRect">
            <a:avLst/>
          </a:prstGeom>
          <a:solidFill>
            <a:srgbClr val="1B4A50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6402E0FA-990D-46D5-AF0B-2DDE49444A63}"/>
              </a:ext>
            </a:extLst>
          </p:cNvPr>
          <p:cNvSpPr/>
          <p:nvPr/>
        </p:nvSpPr>
        <p:spPr>
          <a:xfrm>
            <a:off x="9563100" y="3632200"/>
            <a:ext cx="50800" cy="152400"/>
          </a:xfrm>
          <a:prstGeom prst="rect">
            <a:avLst/>
          </a:prstGeom>
          <a:solidFill>
            <a:srgbClr val="5EC8E5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6A2A149A-7F59-4E6F-A27C-6918FF943A05}"/>
              </a:ext>
            </a:extLst>
          </p:cNvPr>
          <p:cNvSpPr/>
          <p:nvPr/>
        </p:nvSpPr>
        <p:spPr>
          <a:xfrm>
            <a:off x="10033000" y="3581400"/>
            <a:ext cx="431800" cy="254000"/>
          </a:xfrm>
          <a:prstGeom prst="roundRect">
            <a:avLst/>
          </a:prstGeom>
          <a:solidFill>
            <a:srgbClr val="5A3736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C5E078BA-8F59-40FA-B742-1ABFFD49B347}"/>
              </a:ext>
            </a:extLst>
          </p:cNvPr>
          <p:cNvSpPr/>
          <p:nvPr/>
        </p:nvSpPr>
        <p:spPr>
          <a:xfrm>
            <a:off x="10083800" y="3632200"/>
            <a:ext cx="50800" cy="152400"/>
          </a:xfrm>
          <a:prstGeom prst="rect">
            <a:avLst/>
          </a:prstGeom>
          <a:solidFill>
            <a:srgbClr val="5EC8E5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7B1B281A-E6A0-4409-B468-ECC3E2700881}"/>
              </a:ext>
            </a:extLst>
          </p:cNvPr>
          <p:cNvSpPr/>
          <p:nvPr/>
        </p:nvSpPr>
        <p:spPr>
          <a:xfrm>
            <a:off x="10553700" y="3581400"/>
            <a:ext cx="355600" cy="254000"/>
          </a:xfrm>
          <a:prstGeom prst="roundRect">
            <a:avLst/>
          </a:prstGeom>
          <a:solidFill>
            <a:srgbClr val="1B4A50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5307514E-E606-405E-9769-3116D69EA4B2}"/>
              </a:ext>
            </a:extLst>
          </p:cNvPr>
          <p:cNvSpPr/>
          <p:nvPr/>
        </p:nvSpPr>
        <p:spPr>
          <a:xfrm>
            <a:off x="10604500" y="3632200"/>
            <a:ext cx="50800" cy="152400"/>
          </a:xfrm>
          <a:prstGeom prst="rect">
            <a:avLst/>
          </a:prstGeom>
          <a:solidFill>
            <a:srgbClr val="5EC8E5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489C1FB3-AB94-4BCF-ACD7-B3749C905F49}"/>
              </a:ext>
            </a:extLst>
          </p:cNvPr>
          <p:cNvSpPr/>
          <p:nvPr/>
        </p:nvSpPr>
        <p:spPr>
          <a:xfrm>
            <a:off x="7924800" y="4445000"/>
            <a:ext cx="3225800" cy="25400"/>
          </a:xfrm>
          <a:prstGeom prst="rect">
            <a:avLst/>
          </a:prstGeom>
          <a:solidFill>
            <a:srgbClr val="2D5960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ED4C1275-5B95-4660-BCBD-48F946BA124A}"/>
              </a:ext>
            </a:extLst>
          </p:cNvPr>
          <p:cNvSpPr/>
          <p:nvPr/>
        </p:nvSpPr>
        <p:spPr>
          <a:xfrm>
            <a:off x="7950200" y="4140200"/>
            <a:ext cx="431800" cy="254000"/>
          </a:xfrm>
          <a:prstGeom prst="roundRect">
            <a:avLst/>
          </a:prstGeom>
          <a:solidFill>
            <a:srgbClr val="1B4A50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BD05BA9D-153D-4105-9F53-9017FD188121}"/>
              </a:ext>
            </a:extLst>
          </p:cNvPr>
          <p:cNvSpPr/>
          <p:nvPr/>
        </p:nvSpPr>
        <p:spPr>
          <a:xfrm>
            <a:off x="8001000" y="4191000"/>
            <a:ext cx="50800" cy="152400"/>
          </a:xfrm>
          <a:prstGeom prst="rect">
            <a:avLst/>
          </a:prstGeom>
          <a:solidFill>
            <a:srgbClr val="D6FF3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7507FBE1-B564-4128-B5AF-38DB11E4A167}"/>
              </a:ext>
            </a:extLst>
          </p:cNvPr>
          <p:cNvSpPr/>
          <p:nvPr/>
        </p:nvSpPr>
        <p:spPr>
          <a:xfrm>
            <a:off x="8470900" y="4140200"/>
            <a:ext cx="431800" cy="254000"/>
          </a:xfrm>
          <a:prstGeom prst="roundRect">
            <a:avLst/>
          </a:prstGeom>
          <a:solidFill>
            <a:srgbClr val="1B4A50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9E105551-FB8A-491B-BFA4-1185DB83A6A8}"/>
              </a:ext>
            </a:extLst>
          </p:cNvPr>
          <p:cNvSpPr/>
          <p:nvPr/>
        </p:nvSpPr>
        <p:spPr>
          <a:xfrm>
            <a:off x="8521700" y="4191000"/>
            <a:ext cx="50800" cy="152400"/>
          </a:xfrm>
          <a:prstGeom prst="rect">
            <a:avLst/>
          </a:prstGeom>
          <a:solidFill>
            <a:srgbClr val="D6FF3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36E014ED-0124-4AFE-B9A5-CB04C61A1833}"/>
              </a:ext>
            </a:extLst>
          </p:cNvPr>
          <p:cNvSpPr/>
          <p:nvPr/>
        </p:nvSpPr>
        <p:spPr>
          <a:xfrm>
            <a:off x="8991600" y="4140200"/>
            <a:ext cx="431800" cy="254000"/>
          </a:xfrm>
          <a:prstGeom prst="roundRect">
            <a:avLst/>
          </a:prstGeom>
          <a:solidFill>
            <a:srgbClr val="1B4A50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EC7E5760-B96A-41E9-A16B-5DDC01709296}"/>
              </a:ext>
            </a:extLst>
          </p:cNvPr>
          <p:cNvSpPr/>
          <p:nvPr/>
        </p:nvSpPr>
        <p:spPr>
          <a:xfrm>
            <a:off x="9042400" y="4191000"/>
            <a:ext cx="50800" cy="152400"/>
          </a:xfrm>
          <a:prstGeom prst="rect">
            <a:avLst/>
          </a:prstGeom>
          <a:solidFill>
            <a:srgbClr val="D6FF3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459FF4AC-22E6-4D6A-9900-70F42E380D9A}"/>
              </a:ext>
            </a:extLst>
          </p:cNvPr>
          <p:cNvSpPr/>
          <p:nvPr/>
        </p:nvSpPr>
        <p:spPr>
          <a:xfrm>
            <a:off x="9512300" y="4140200"/>
            <a:ext cx="431800" cy="254000"/>
          </a:xfrm>
          <a:prstGeom prst="roundRect">
            <a:avLst/>
          </a:prstGeom>
          <a:solidFill>
            <a:srgbClr val="1B4A50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CCC0047E-9213-4462-A085-0691412950D9}"/>
              </a:ext>
            </a:extLst>
          </p:cNvPr>
          <p:cNvSpPr/>
          <p:nvPr/>
        </p:nvSpPr>
        <p:spPr>
          <a:xfrm>
            <a:off x="9563100" y="4191000"/>
            <a:ext cx="50800" cy="152400"/>
          </a:xfrm>
          <a:prstGeom prst="rect">
            <a:avLst/>
          </a:prstGeom>
          <a:solidFill>
            <a:srgbClr val="D6FF3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6072B7E9-43EC-4719-9367-7DF35AAB4C62}"/>
              </a:ext>
            </a:extLst>
          </p:cNvPr>
          <p:cNvSpPr/>
          <p:nvPr/>
        </p:nvSpPr>
        <p:spPr>
          <a:xfrm>
            <a:off x="10033000" y="4140200"/>
            <a:ext cx="431800" cy="254000"/>
          </a:xfrm>
          <a:prstGeom prst="roundRect">
            <a:avLst/>
          </a:prstGeom>
          <a:solidFill>
            <a:srgbClr val="1B4A50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11CC770A-24F5-49F4-8C1C-01BA156B6B59}"/>
              </a:ext>
            </a:extLst>
          </p:cNvPr>
          <p:cNvSpPr/>
          <p:nvPr/>
        </p:nvSpPr>
        <p:spPr>
          <a:xfrm>
            <a:off x="10083800" y="4191000"/>
            <a:ext cx="50800" cy="152400"/>
          </a:xfrm>
          <a:prstGeom prst="rect">
            <a:avLst/>
          </a:prstGeom>
          <a:solidFill>
            <a:srgbClr val="D6FF3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177124C4-FD8F-4B14-8B6D-4C342403E268}"/>
              </a:ext>
            </a:extLst>
          </p:cNvPr>
          <p:cNvSpPr/>
          <p:nvPr/>
        </p:nvSpPr>
        <p:spPr>
          <a:xfrm>
            <a:off x="10553700" y="4140200"/>
            <a:ext cx="355600" cy="254000"/>
          </a:xfrm>
          <a:prstGeom prst="roundRect">
            <a:avLst/>
          </a:prstGeom>
          <a:solidFill>
            <a:srgbClr val="1B4A50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0CFB7E2E-AC99-4D54-B5C5-593C04EF9051}"/>
              </a:ext>
            </a:extLst>
          </p:cNvPr>
          <p:cNvSpPr/>
          <p:nvPr/>
        </p:nvSpPr>
        <p:spPr>
          <a:xfrm>
            <a:off x="10604500" y="4191000"/>
            <a:ext cx="50800" cy="152400"/>
          </a:xfrm>
          <a:prstGeom prst="rect">
            <a:avLst/>
          </a:prstGeom>
          <a:solidFill>
            <a:srgbClr val="D6FF3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72" name="Rectangle: Rounded Corners 71">
            <a:extLst>
              <a:ext uri="{FF2B5EF4-FFF2-40B4-BE49-F238E27FC236}">
                <a16:creationId xmlns:a16="http://schemas.microsoft.com/office/drawing/2014/main" id="{ACB0BC70-D9B0-43E6-BE89-569593921DE3}"/>
              </a:ext>
            </a:extLst>
          </p:cNvPr>
          <p:cNvSpPr/>
          <p:nvPr/>
        </p:nvSpPr>
        <p:spPr>
          <a:xfrm>
            <a:off x="10642600" y="4292600"/>
            <a:ext cx="482600" cy="304800"/>
          </a:xfrm>
          <a:prstGeom prst="roundRect">
            <a:avLst/>
          </a:prstGeom>
          <a:solidFill>
            <a:srgbClr val="4FE0B3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9D2906D8-88DE-4AC1-9ECE-424B55EA450C}"/>
              </a:ext>
            </a:extLst>
          </p:cNvPr>
          <p:cNvSpPr txBox="1"/>
          <p:nvPr/>
        </p:nvSpPr>
        <p:spPr>
          <a:xfrm>
            <a:off x="10706100" y="4330700"/>
            <a:ext cx="355600" cy="22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GB" sz="1000" b="1">
                <a:solidFill>
                  <a:srgbClr val="061C21"/>
                </a:solidFill>
                <a:latin typeface="Aptos"/>
              </a:rPr>
              <a:t>AI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CAE7B3DC-8B4B-40AD-A4AA-1DD93387C6A9}"/>
              </a:ext>
            </a:extLst>
          </p:cNvPr>
          <p:cNvSpPr txBox="1"/>
          <p:nvPr/>
        </p:nvSpPr>
        <p:spPr>
          <a:xfrm>
            <a:off x="635000" y="4216400"/>
            <a:ext cx="3048000" cy="22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GB" sz="1000" b="1">
                <a:solidFill>
                  <a:srgbClr val="4FE0B3"/>
                </a:solidFill>
                <a:latin typeface="Aptos"/>
              </a:rPr>
              <a:t>ONE INTELLIGENT SYSTEM</a:t>
            </a:r>
          </a:p>
        </p:txBody>
      </p:sp>
      <p:sp>
        <p:nvSpPr>
          <p:cNvPr id="75" name="Rectangle: Rounded Corners 74">
            <a:extLst>
              <a:ext uri="{FF2B5EF4-FFF2-40B4-BE49-F238E27FC236}">
                <a16:creationId xmlns:a16="http://schemas.microsoft.com/office/drawing/2014/main" id="{A6222D20-6580-435B-8EA4-7B692DFEDA3C}"/>
              </a:ext>
            </a:extLst>
          </p:cNvPr>
          <p:cNvSpPr/>
          <p:nvPr/>
        </p:nvSpPr>
        <p:spPr>
          <a:xfrm>
            <a:off x="635000" y="4622800"/>
            <a:ext cx="1422400" cy="584200"/>
          </a:xfrm>
          <a:prstGeom prst="roundRect">
            <a:avLst/>
          </a:prstGeom>
          <a:solidFill>
            <a:srgbClr val="153F45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E6EB899A-192D-4B63-9187-798582096475}"/>
              </a:ext>
            </a:extLst>
          </p:cNvPr>
          <p:cNvSpPr/>
          <p:nvPr/>
        </p:nvSpPr>
        <p:spPr>
          <a:xfrm>
            <a:off x="787400" y="4813300"/>
            <a:ext cx="177800" cy="177800"/>
          </a:xfrm>
          <a:prstGeom prst="ellipse">
            <a:avLst/>
          </a:prstGeom>
          <a:solidFill>
            <a:srgbClr val="4FE0B3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CDDAB0CE-C682-4B55-9579-61C4E59440CA}"/>
              </a:ext>
            </a:extLst>
          </p:cNvPr>
          <p:cNvSpPr txBox="1"/>
          <p:nvPr/>
        </p:nvSpPr>
        <p:spPr>
          <a:xfrm>
            <a:off x="1066800" y="4749800"/>
            <a:ext cx="863600" cy="304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l"/>
            <a:r>
              <a:rPr lang="en-GB" sz="1200" b="1">
                <a:solidFill>
                  <a:srgbClr val="F6FAF9"/>
                </a:solidFill>
                <a:latin typeface="Aptos"/>
              </a:rPr>
              <a:t>Inventory</a:t>
            </a:r>
          </a:p>
        </p:txBody>
      </p:sp>
      <p:sp>
        <p:nvSpPr>
          <p:cNvPr id="78" name="Rectangle: Rounded Corners 77">
            <a:extLst>
              <a:ext uri="{FF2B5EF4-FFF2-40B4-BE49-F238E27FC236}">
                <a16:creationId xmlns:a16="http://schemas.microsoft.com/office/drawing/2014/main" id="{5E34B6C3-5D67-4034-A14E-DB0C780D21F1}"/>
              </a:ext>
            </a:extLst>
          </p:cNvPr>
          <p:cNvSpPr/>
          <p:nvPr/>
        </p:nvSpPr>
        <p:spPr>
          <a:xfrm>
            <a:off x="2235200" y="4622800"/>
            <a:ext cx="1422400" cy="584200"/>
          </a:xfrm>
          <a:prstGeom prst="roundRect">
            <a:avLst/>
          </a:prstGeom>
          <a:solidFill>
            <a:srgbClr val="153F45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215D3475-A4E4-4C35-9CD6-234FBE91D587}"/>
              </a:ext>
            </a:extLst>
          </p:cNvPr>
          <p:cNvSpPr/>
          <p:nvPr/>
        </p:nvSpPr>
        <p:spPr>
          <a:xfrm>
            <a:off x="2387600" y="4813300"/>
            <a:ext cx="177800" cy="177800"/>
          </a:xfrm>
          <a:prstGeom prst="ellipse">
            <a:avLst/>
          </a:prstGeom>
          <a:solidFill>
            <a:srgbClr val="5EC8E5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165F547D-E62B-4E05-AF9B-5720D6D23C20}"/>
              </a:ext>
            </a:extLst>
          </p:cNvPr>
          <p:cNvSpPr txBox="1"/>
          <p:nvPr/>
        </p:nvSpPr>
        <p:spPr>
          <a:xfrm>
            <a:off x="2667000" y="4749800"/>
            <a:ext cx="863600" cy="304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l"/>
            <a:r>
              <a:rPr lang="en-GB" sz="1200" b="1">
                <a:solidFill>
                  <a:srgbClr val="F6FAF9"/>
                </a:solidFill>
                <a:latin typeface="Aptos"/>
              </a:rPr>
              <a:t>Billing</a:t>
            </a:r>
          </a:p>
        </p:txBody>
      </p:sp>
      <p:sp>
        <p:nvSpPr>
          <p:cNvPr id="81" name="Rectangle: Rounded Corners 80">
            <a:extLst>
              <a:ext uri="{FF2B5EF4-FFF2-40B4-BE49-F238E27FC236}">
                <a16:creationId xmlns:a16="http://schemas.microsoft.com/office/drawing/2014/main" id="{8CDE33C5-EE2D-429D-A330-832082259B4E}"/>
              </a:ext>
            </a:extLst>
          </p:cNvPr>
          <p:cNvSpPr/>
          <p:nvPr/>
        </p:nvSpPr>
        <p:spPr>
          <a:xfrm>
            <a:off x="3835400" y="4622800"/>
            <a:ext cx="1422400" cy="584200"/>
          </a:xfrm>
          <a:prstGeom prst="roundRect">
            <a:avLst/>
          </a:prstGeom>
          <a:solidFill>
            <a:srgbClr val="153F45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73CA7C6C-D832-42F4-AB15-74B99F14D900}"/>
              </a:ext>
            </a:extLst>
          </p:cNvPr>
          <p:cNvSpPr/>
          <p:nvPr/>
        </p:nvSpPr>
        <p:spPr>
          <a:xfrm>
            <a:off x="3987800" y="4813300"/>
            <a:ext cx="177800" cy="177800"/>
          </a:xfrm>
          <a:prstGeom prst="ellipse">
            <a:avLst/>
          </a:prstGeom>
          <a:solidFill>
            <a:srgbClr val="FF735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0B8729FF-6319-40D2-9F1A-20DD382C0E61}"/>
              </a:ext>
            </a:extLst>
          </p:cNvPr>
          <p:cNvSpPr txBox="1"/>
          <p:nvPr/>
        </p:nvSpPr>
        <p:spPr>
          <a:xfrm>
            <a:off x="4267200" y="4749800"/>
            <a:ext cx="863600" cy="304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l"/>
            <a:r>
              <a:rPr lang="en-GB" sz="1200" b="1">
                <a:solidFill>
                  <a:srgbClr val="F6FAF9"/>
                </a:solidFill>
                <a:latin typeface="Aptos"/>
              </a:rPr>
              <a:t>Expiry</a:t>
            </a:r>
          </a:p>
        </p:txBody>
      </p:sp>
      <p:sp>
        <p:nvSpPr>
          <p:cNvPr id="84" name="Rectangle: Rounded Corners 83">
            <a:extLst>
              <a:ext uri="{FF2B5EF4-FFF2-40B4-BE49-F238E27FC236}">
                <a16:creationId xmlns:a16="http://schemas.microsoft.com/office/drawing/2014/main" id="{6E7C10E4-5E42-4DEC-8C1F-D9FEE6F6A323}"/>
              </a:ext>
            </a:extLst>
          </p:cNvPr>
          <p:cNvSpPr/>
          <p:nvPr/>
        </p:nvSpPr>
        <p:spPr>
          <a:xfrm>
            <a:off x="5435600" y="4622800"/>
            <a:ext cx="1422400" cy="584200"/>
          </a:xfrm>
          <a:prstGeom prst="roundRect">
            <a:avLst/>
          </a:prstGeom>
          <a:solidFill>
            <a:srgbClr val="153F45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5D861415-1739-45CA-ADE1-15F5380BBAAC}"/>
              </a:ext>
            </a:extLst>
          </p:cNvPr>
          <p:cNvSpPr/>
          <p:nvPr/>
        </p:nvSpPr>
        <p:spPr>
          <a:xfrm>
            <a:off x="5588000" y="4813300"/>
            <a:ext cx="177800" cy="177800"/>
          </a:xfrm>
          <a:prstGeom prst="ellipse">
            <a:avLst/>
          </a:prstGeom>
          <a:solidFill>
            <a:srgbClr val="D6FF3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450A5275-A815-47A1-A80C-F3E30A8FB826}"/>
              </a:ext>
            </a:extLst>
          </p:cNvPr>
          <p:cNvSpPr txBox="1"/>
          <p:nvPr/>
        </p:nvSpPr>
        <p:spPr>
          <a:xfrm>
            <a:off x="5867400" y="4749800"/>
            <a:ext cx="863600" cy="304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l"/>
            <a:r>
              <a:rPr lang="en-GB" sz="1200" b="1" dirty="0">
                <a:solidFill>
                  <a:srgbClr val="F6FAF9"/>
                </a:solidFill>
                <a:latin typeface="Aptos"/>
              </a:rPr>
              <a:t>AI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3A074549-0FE3-4812-A42D-C06D4DED077D}"/>
              </a:ext>
            </a:extLst>
          </p:cNvPr>
          <p:cNvSpPr txBox="1"/>
          <p:nvPr/>
        </p:nvSpPr>
        <p:spPr>
          <a:xfrm>
            <a:off x="635000" y="5613400"/>
            <a:ext cx="8636000" cy="381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l"/>
            <a:r>
              <a:rPr lang="en-IN" sz="1200" dirty="0">
                <a:solidFill>
                  <a:srgbClr val="A9CED0"/>
                </a:solidFill>
                <a:latin typeface="Aptos"/>
              </a:rPr>
              <a:t>Inventory, billing, expiry visibility and AI recognition &amp; vision—connected in one workflow.</a:t>
            </a:r>
            <a:endParaRPr lang="en-GB" sz="1200" dirty="0">
              <a:solidFill>
                <a:srgbClr val="A9CED0"/>
              </a:solidFill>
              <a:latin typeface="Aptos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0E914B66-1F35-4ABC-A750-3B608CD6FE0B}"/>
              </a:ext>
            </a:extLst>
          </p:cNvPr>
          <p:cNvSpPr txBox="1"/>
          <p:nvPr/>
        </p:nvSpPr>
        <p:spPr>
          <a:xfrm>
            <a:off x="635000" y="6413500"/>
            <a:ext cx="2159000" cy="177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GB" sz="900" b="1">
                <a:solidFill>
                  <a:srgbClr val="A9CED0"/>
                </a:solidFill>
                <a:latin typeface="Aptos"/>
              </a:rPr>
              <a:t>DOSEDECK •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8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1F30BC47-80AC-48D9-AC6D-BC45A68BD4C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1C21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2849E51-6F23-4FB5-9166-A210ED3C199F}"/>
              </a:ext>
            </a:extLst>
          </p:cNvPr>
          <p:cNvSpPr txBox="1"/>
          <p:nvPr/>
        </p:nvSpPr>
        <p:spPr>
          <a:xfrm>
            <a:off x="508000" y="254000"/>
            <a:ext cx="1397000" cy="203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GB" sz="900" b="1">
                <a:solidFill>
                  <a:srgbClr val="4FE0B3"/>
                </a:solidFill>
                <a:latin typeface="Aptos"/>
              </a:rPr>
              <a:t>DOSEDECK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5C80052-EC8E-4FC6-89BE-5AE40F656BB8}"/>
              </a:ext>
            </a:extLst>
          </p:cNvPr>
          <p:cNvSpPr txBox="1"/>
          <p:nvPr/>
        </p:nvSpPr>
        <p:spPr>
          <a:xfrm>
            <a:off x="2159000" y="254000"/>
            <a:ext cx="1651000" cy="203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GB" sz="900" b="1">
                <a:solidFill>
                  <a:srgbClr val="A9CED0"/>
                </a:solidFill>
                <a:latin typeface="Aptos"/>
              </a:rPr>
              <a:t>THE PROBLEM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C740151-4377-4892-91DA-C44C761049E0}"/>
              </a:ext>
            </a:extLst>
          </p:cNvPr>
          <p:cNvSpPr txBox="1"/>
          <p:nvPr/>
        </p:nvSpPr>
        <p:spPr>
          <a:xfrm>
            <a:off x="11430000" y="6413500"/>
            <a:ext cx="304800" cy="177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GB" sz="900" b="1">
                <a:solidFill>
                  <a:srgbClr val="A9CED0"/>
                </a:solidFill>
                <a:latin typeface="Aptos"/>
              </a:rPr>
              <a:t>02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F0102B2-BFFB-4F06-89E3-8ECEE40808F7}"/>
              </a:ext>
            </a:extLst>
          </p:cNvPr>
          <p:cNvSpPr/>
          <p:nvPr/>
        </p:nvSpPr>
        <p:spPr>
          <a:xfrm>
            <a:off x="508000" y="6375400"/>
            <a:ext cx="10185400" cy="15240"/>
          </a:xfrm>
          <a:prstGeom prst="rect">
            <a:avLst/>
          </a:prstGeom>
          <a:solidFill>
            <a:srgbClr val="315B61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9990E9B-930B-43F0-B7CD-5DEBC65A66B0}"/>
              </a:ext>
            </a:extLst>
          </p:cNvPr>
          <p:cNvSpPr txBox="1"/>
          <p:nvPr/>
        </p:nvSpPr>
        <p:spPr>
          <a:xfrm>
            <a:off x="635000" y="736600"/>
            <a:ext cx="8890000" cy="914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l"/>
            <a:r>
              <a:rPr lang="en-IN" sz="2600" b="1">
                <a:solidFill>
                  <a:srgbClr val="F6FAF9"/>
                </a:solidFill>
                <a:latin typeface="Aptos"/>
              </a:rPr>
              <a:t>Pharmacies lose money because
inventory is difficult to manage</a:t>
            </a:r>
            <a:endParaRPr lang="en-GB" sz="2600" b="1">
              <a:solidFill>
                <a:srgbClr val="F6FAF9"/>
              </a:solidFill>
              <a:latin typeface="Aptos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4A98F81-AAF1-406A-ABF9-C2F8D8C406EE}"/>
              </a:ext>
            </a:extLst>
          </p:cNvPr>
          <p:cNvSpPr txBox="1"/>
          <p:nvPr/>
        </p:nvSpPr>
        <p:spPr>
          <a:xfrm>
            <a:off x="635000" y="1676400"/>
            <a:ext cx="9652000" cy="330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l"/>
            <a:r>
              <a:rPr lang="en-IN" sz="1300">
                <a:solidFill>
                  <a:srgbClr val="A9CED0"/>
                </a:solidFill>
                <a:latin typeface="Aptos"/>
              </a:rPr>
              <a:t>The daily operating challenge is visibility across products, batches, expiry and demand.</a:t>
            </a:r>
            <a:endParaRPr lang="en-GB" sz="1300">
              <a:solidFill>
                <a:srgbClr val="A9CED0"/>
              </a:solidFill>
              <a:latin typeface="Aptos"/>
            </a:endParaRP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F6177451-A60B-4084-B6D1-8A2F029D0984}"/>
              </a:ext>
            </a:extLst>
          </p:cNvPr>
          <p:cNvSpPr/>
          <p:nvPr/>
        </p:nvSpPr>
        <p:spPr>
          <a:xfrm>
            <a:off x="635000" y="2413000"/>
            <a:ext cx="5334000" cy="1270000"/>
          </a:xfrm>
          <a:prstGeom prst="roundRect">
            <a:avLst/>
          </a:prstGeom>
          <a:solidFill>
            <a:srgbClr val="10343A"/>
          </a:solidFill>
          <a:ln w="12700" cap="flat" cmpd="sng" algn="ctr">
            <a:solidFill>
              <a:srgbClr val="28545A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FC6170D2-3E12-44BD-BF85-884A94927DB9}"/>
              </a:ext>
            </a:extLst>
          </p:cNvPr>
          <p:cNvSpPr/>
          <p:nvPr/>
        </p:nvSpPr>
        <p:spPr>
          <a:xfrm>
            <a:off x="863600" y="2641600"/>
            <a:ext cx="533400" cy="533400"/>
          </a:xfrm>
          <a:prstGeom prst="ellipse">
            <a:avLst/>
          </a:prstGeom>
          <a:solidFill>
            <a:srgbClr val="4FE0B3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8E291B0-8E09-4FA5-ACD1-314DB02A11BD}"/>
              </a:ext>
            </a:extLst>
          </p:cNvPr>
          <p:cNvSpPr txBox="1"/>
          <p:nvPr/>
        </p:nvSpPr>
        <p:spPr>
          <a:xfrm>
            <a:off x="901700" y="2743200"/>
            <a:ext cx="457200" cy="203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GB" sz="900" b="1">
                <a:solidFill>
                  <a:srgbClr val="061C21"/>
                </a:solidFill>
                <a:latin typeface="Aptos"/>
              </a:rPr>
              <a:t>SKU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0E209BC-DCCF-4C09-91B5-C6081270D025}"/>
              </a:ext>
            </a:extLst>
          </p:cNvPr>
          <p:cNvSpPr txBox="1"/>
          <p:nvPr/>
        </p:nvSpPr>
        <p:spPr>
          <a:xfrm>
            <a:off x="1600200" y="2616200"/>
            <a:ext cx="4064000" cy="355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l"/>
            <a:r>
              <a:rPr lang="en-IN" sz="1400" b="1">
                <a:solidFill>
                  <a:srgbClr val="F6FAF9"/>
                </a:solidFill>
                <a:latin typeface="Aptos"/>
              </a:rPr>
              <a:t>Thousands of SKUs and batches</a:t>
            </a:r>
            <a:endParaRPr lang="en-GB" sz="1400" b="1">
              <a:solidFill>
                <a:srgbClr val="F6FAF9"/>
              </a:solidFill>
              <a:latin typeface="Aptos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277F3A9-F452-4150-B797-8ECD14A5F977}"/>
              </a:ext>
            </a:extLst>
          </p:cNvPr>
          <p:cNvSpPr txBox="1"/>
          <p:nvPr/>
        </p:nvSpPr>
        <p:spPr>
          <a:xfrm>
            <a:off x="1600200" y="3022600"/>
            <a:ext cx="4064000" cy="482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l"/>
            <a:r>
              <a:rPr lang="en-IN" sz="1050">
                <a:solidFill>
                  <a:srgbClr val="A9CED0"/>
                </a:solidFill>
                <a:latin typeface="Aptos"/>
              </a:rPr>
              <a:t>Every medicine can exist across multiple brands, pack sizes, batches and suppliers.</a:t>
            </a:r>
            <a:endParaRPr lang="en-GB" sz="1050">
              <a:solidFill>
                <a:srgbClr val="A9CED0"/>
              </a:solidFill>
              <a:latin typeface="Aptos"/>
            </a:endParaRP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03AFAC65-B585-42C5-A761-C123FA20F818}"/>
              </a:ext>
            </a:extLst>
          </p:cNvPr>
          <p:cNvSpPr/>
          <p:nvPr/>
        </p:nvSpPr>
        <p:spPr>
          <a:xfrm>
            <a:off x="6223000" y="2413000"/>
            <a:ext cx="5334000" cy="1270000"/>
          </a:xfrm>
          <a:prstGeom prst="roundRect">
            <a:avLst/>
          </a:prstGeom>
          <a:solidFill>
            <a:srgbClr val="10343A"/>
          </a:solidFill>
          <a:ln w="12700" cap="flat" cmpd="sng" algn="ctr">
            <a:solidFill>
              <a:srgbClr val="28545A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B7B715E8-FFE8-41F3-A8ED-5062F756F943}"/>
              </a:ext>
            </a:extLst>
          </p:cNvPr>
          <p:cNvSpPr/>
          <p:nvPr/>
        </p:nvSpPr>
        <p:spPr>
          <a:xfrm>
            <a:off x="6451600" y="2641600"/>
            <a:ext cx="533400" cy="533400"/>
          </a:xfrm>
          <a:prstGeom prst="ellipse">
            <a:avLst/>
          </a:prstGeom>
          <a:solidFill>
            <a:srgbClr val="FF735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70EB62A-78A0-45A3-BA74-EFAF248E67F7}"/>
              </a:ext>
            </a:extLst>
          </p:cNvPr>
          <p:cNvSpPr txBox="1"/>
          <p:nvPr/>
        </p:nvSpPr>
        <p:spPr>
          <a:xfrm>
            <a:off x="6489700" y="2743200"/>
            <a:ext cx="457200" cy="203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GB" sz="900" b="1">
                <a:solidFill>
                  <a:srgbClr val="061C21"/>
                </a:solidFill>
                <a:latin typeface="Aptos"/>
              </a:rPr>
              <a:t>EXP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81E84FE-070D-4C59-A45A-19FC1F3C9B2E}"/>
              </a:ext>
            </a:extLst>
          </p:cNvPr>
          <p:cNvSpPr txBox="1"/>
          <p:nvPr/>
        </p:nvSpPr>
        <p:spPr>
          <a:xfrm>
            <a:off x="7188200" y="2616200"/>
            <a:ext cx="4064000" cy="355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l"/>
            <a:r>
              <a:rPr lang="en-IN" sz="1400" b="1">
                <a:solidFill>
                  <a:srgbClr val="F6FAF9"/>
                </a:solidFill>
                <a:latin typeface="Aptos"/>
              </a:rPr>
              <a:t>Medicines expire before being sold</a:t>
            </a:r>
            <a:endParaRPr lang="en-GB" sz="1400" b="1">
              <a:solidFill>
                <a:srgbClr val="F6FAF9"/>
              </a:solidFill>
              <a:latin typeface="Aptos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EA26832-8DE4-456D-8E0F-FEAC1DFA5C19}"/>
              </a:ext>
            </a:extLst>
          </p:cNvPr>
          <p:cNvSpPr txBox="1"/>
          <p:nvPr/>
        </p:nvSpPr>
        <p:spPr>
          <a:xfrm>
            <a:off x="7188200" y="3022600"/>
            <a:ext cx="4064000" cy="482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l"/>
            <a:r>
              <a:rPr lang="en-IN" sz="1050">
                <a:solidFill>
                  <a:srgbClr val="A9CED0"/>
                </a:solidFill>
                <a:latin typeface="Aptos"/>
              </a:rPr>
              <a:t>Slow-moving stock remains invisible until the expiry window is already too close.</a:t>
            </a:r>
            <a:endParaRPr lang="en-GB" sz="1050">
              <a:solidFill>
                <a:srgbClr val="A9CED0"/>
              </a:solidFill>
              <a:latin typeface="Aptos"/>
            </a:endParaRP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F942D05F-8FD2-4B5B-B21B-DFE437EB36A6}"/>
              </a:ext>
            </a:extLst>
          </p:cNvPr>
          <p:cNvSpPr/>
          <p:nvPr/>
        </p:nvSpPr>
        <p:spPr>
          <a:xfrm>
            <a:off x="635000" y="3886200"/>
            <a:ext cx="5334000" cy="1270000"/>
          </a:xfrm>
          <a:prstGeom prst="roundRect">
            <a:avLst/>
          </a:prstGeom>
          <a:solidFill>
            <a:srgbClr val="10343A"/>
          </a:solidFill>
          <a:ln w="12700" cap="flat" cmpd="sng" algn="ctr">
            <a:solidFill>
              <a:srgbClr val="28545A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AACED6D1-3F2D-4E41-A407-8215E823BA2D}"/>
              </a:ext>
            </a:extLst>
          </p:cNvPr>
          <p:cNvSpPr/>
          <p:nvPr/>
        </p:nvSpPr>
        <p:spPr>
          <a:xfrm>
            <a:off x="863600" y="4114800"/>
            <a:ext cx="533400" cy="533400"/>
          </a:xfrm>
          <a:prstGeom prst="ellipse">
            <a:avLst/>
          </a:prstGeom>
          <a:solidFill>
            <a:srgbClr val="D6FF3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BD2D498-488E-4E3B-9054-E5B3336D3836}"/>
              </a:ext>
            </a:extLst>
          </p:cNvPr>
          <p:cNvSpPr txBox="1"/>
          <p:nvPr/>
        </p:nvSpPr>
        <p:spPr>
          <a:xfrm>
            <a:off x="901700" y="4216400"/>
            <a:ext cx="457200" cy="203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GB" sz="900" b="1">
                <a:solidFill>
                  <a:srgbClr val="061C21"/>
                </a:solidFill>
                <a:latin typeface="Aptos"/>
              </a:rPr>
              <a:t>OOS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08F397D-FFE2-414A-87C6-232CEAB640CD}"/>
              </a:ext>
            </a:extLst>
          </p:cNvPr>
          <p:cNvSpPr txBox="1"/>
          <p:nvPr/>
        </p:nvSpPr>
        <p:spPr>
          <a:xfrm>
            <a:off x="1600200" y="4089400"/>
            <a:ext cx="4064000" cy="355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l"/>
            <a:r>
              <a:rPr lang="en-IN" sz="1250" b="1">
                <a:solidFill>
                  <a:srgbClr val="F6FAF9"/>
                </a:solidFill>
                <a:latin typeface="Aptos"/>
              </a:rPr>
              <a:t>Popular medicines unexpectedly go out of stock</a:t>
            </a:r>
            <a:endParaRPr lang="en-GB" sz="1250" b="1">
              <a:solidFill>
                <a:srgbClr val="F6FAF9"/>
              </a:solidFill>
              <a:latin typeface="Aptos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DB86062-99A4-454C-897D-2152DD6EAAC0}"/>
              </a:ext>
            </a:extLst>
          </p:cNvPr>
          <p:cNvSpPr txBox="1"/>
          <p:nvPr/>
        </p:nvSpPr>
        <p:spPr>
          <a:xfrm>
            <a:off x="1600200" y="4495800"/>
            <a:ext cx="4064000" cy="482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l"/>
            <a:r>
              <a:rPr lang="en-IN" sz="1050">
                <a:solidFill>
                  <a:srgbClr val="A9CED0"/>
                </a:solidFill>
                <a:latin typeface="Aptos"/>
              </a:rPr>
              <a:t>Demand changes faster than manual reorder checks can keep up.</a:t>
            </a:r>
            <a:endParaRPr lang="en-GB" sz="1050">
              <a:solidFill>
                <a:srgbClr val="A9CED0"/>
              </a:solidFill>
              <a:latin typeface="Aptos"/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14C02992-D9D9-4A91-9033-4463345A33B6}"/>
              </a:ext>
            </a:extLst>
          </p:cNvPr>
          <p:cNvSpPr/>
          <p:nvPr/>
        </p:nvSpPr>
        <p:spPr>
          <a:xfrm>
            <a:off x="6223000" y="3886200"/>
            <a:ext cx="5334000" cy="1270000"/>
          </a:xfrm>
          <a:prstGeom prst="roundRect">
            <a:avLst/>
          </a:prstGeom>
          <a:solidFill>
            <a:srgbClr val="10343A"/>
          </a:solidFill>
          <a:ln w="12700" cap="flat" cmpd="sng" algn="ctr">
            <a:solidFill>
              <a:srgbClr val="28545A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2130C9FF-6D8D-432C-B246-624AF4D7E227}"/>
              </a:ext>
            </a:extLst>
          </p:cNvPr>
          <p:cNvSpPr/>
          <p:nvPr/>
        </p:nvSpPr>
        <p:spPr>
          <a:xfrm>
            <a:off x="6451600" y="4114800"/>
            <a:ext cx="533400" cy="533400"/>
          </a:xfrm>
          <a:prstGeom prst="ellipse">
            <a:avLst/>
          </a:prstGeom>
          <a:solidFill>
            <a:srgbClr val="5EC8E5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0591B78-C1CC-4CFE-934C-74A01681810E}"/>
              </a:ext>
            </a:extLst>
          </p:cNvPr>
          <p:cNvSpPr txBox="1"/>
          <p:nvPr/>
        </p:nvSpPr>
        <p:spPr>
          <a:xfrm>
            <a:off x="6489700" y="4216400"/>
            <a:ext cx="457200" cy="203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GB" sz="900" b="1">
                <a:solidFill>
                  <a:srgbClr val="061C21"/>
                </a:solidFill>
                <a:latin typeface="Aptos"/>
              </a:rPr>
              <a:t>INV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74CE65B-00CB-42F2-BC48-23962E7EFD72}"/>
              </a:ext>
            </a:extLst>
          </p:cNvPr>
          <p:cNvSpPr txBox="1"/>
          <p:nvPr/>
        </p:nvSpPr>
        <p:spPr>
          <a:xfrm>
            <a:off x="7188200" y="4089400"/>
            <a:ext cx="4064000" cy="355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l"/>
            <a:r>
              <a:rPr lang="en-IN" sz="1250" b="1">
                <a:solidFill>
                  <a:srgbClr val="F6FAF9"/>
                </a:solidFill>
                <a:latin typeface="Aptos"/>
              </a:rPr>
              <a:t>Manual invoice entry and billing consume staff time</a:t>
            </a:r>
            <a:endParaRPr lang="en-GB" sz="1250" b="1">
              <a:solidFill>
                <a:srgbClr val="F6FAF9"/>
              </a:solidFill>
              <a:latin typeface="Aptos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4491F9B-2EA7-4217-B1D1-195BE5C778B0}"/>
              </a:ext>
            </a:extLst>
          </p:cNvPr>
          <p:cNvSpPr txBox="1"/>
          <p:nvPr/>
        </p:nvSpPr>
        <p:spPr>
          <a:xfrm>
            <a:off x="7188200" y="4495800"/>
            <a:ext cx="4064000" cy="482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l"/>
            <a:r>
              <a:rPr lang="en-IN" sz="1050">
                <a:solidFill>
                  <a:srgbClr val="A9CED0"/>
                </a:solidFill>
                <a:latin typeface="Aptos"/>
              </a:rPr>
              <a:t>Manual purchase entry and billing create delays, rework and avoidable errors.</a:t>
            </a:r>
            <a:endParaRPr lang="en-GB" sz="1050">
              <a:solidFill>
                <a:srgbClr val="A9CED0"/>
              </a:solidFill>
              <a:latin typeface="Aptos"/>
            </a:endParaRPr>
          </a:p>
        </p:txBody>
      </p: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C53FE668-9C22-49F1-94F0-13BC47F7300A}"/>
              </a:ext>
            </a:extLst>
          </p:cNvPr>
          <p:cNvSpPr/>
          <p:nvPr/>
        </p:nvSpPr>
        <p:spPr>
          <a:xfrm>
            <a:off x="635000" y="5486400"/>
            <a:ext cx="10922000" cy="685800"/>
          </a:xfrm>
          <a:prstGeom prst="roundRect">
            <a:avLst/>
          </a:prstGeom>
          <a:solidFill>
            <a:srgbClr val="153F45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4DB73FA-8686-4D63-818A-D89933B5F13F}"/>
              </a:ext>
            </a:extLst>
          </p:cNvPr>
          <p:cNvSpPr txBox="1"/>
          <p:nvPr/>
        </p:nvSpPr>
        <p:spPr>
          <a:xfrm>
            <a:off x="889000" y="5689600"/>
            <a:ext cx="3302000" cy="22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IN" sz="1000" b="1">
                <a:solidFill>
                  <a:srgbClr val="4FE0B3"/>
                </a:solidFill>
                <a:latin typeface="Aptos"/>
              </a:rPr>
              <a:t>The problem isn't lack of stock.</a:t>
            </a:r>
            <a:endParaRPr lang="en-GB" sz="1000" b="1">
              <a:solidFill>
                <a:srgbClr val="4FE0B3"/>
              </a:solidFill>
              <a:latin typeface="Aptos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5DA2D1A-0E96-445D-8707-15A2D2AF70AC}"/>
              </a:ext>
            </a:extLst>
          </p:cNvPr>
          <p:cNvSpPr txBox="1"/>
          <p:nvPr/>
        </p:nvSpPr>
        <p:spPr>
          <a:xfrm>
            <a:off x="4318000" y="5588000"/>
            <a:ext cx="6731000" cy="381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l"/>
            <a:r>
              <a:rPr lang="en-GB" sz="1900" b="1">
                <a:solidFill>
                  <a:srgbClr val="F6FAF9"/>
                </a:solidFill>
                <a:latin typeface="Aptos"/>
              </a:rPr>
              <a:t>It's lack of visibility.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8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1ED233B7-22E2-4819-B480-137CF98B5A7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1C21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AA45C72-A139-40FD-A1C8-34738C06081C}"/>
              </a:ext>
            </a:extLst>
          </p:cNvPr>
          <p:cNvSpPr txBox="1"/>
          <p:nvPr/>
        </p:nvSpPr>
        <p:spPr>
          <a:xfrm>
            <a:off x="508000" y="254000"/>
            <a:ext cx="1397000" cy="203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GB" sz="900" b="1">
                <a:solidFill>
                  <a:srgbClr val="4FE0B3"/>
                </a:solidFill>
                <a:latin typeface="Aptos"/>
              </a:rPr>
              <a:t>DOSEDECK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742BCF2-D277-40BF-B821-3486DE135FCA}"/>
              </a:ext>
            </a:extLst>
          </p:cNvPr>
          <p:cNvSpPr txBox="1"/>
          <p:nvPr/>
        </p:nvSpPr>
        <p:spPr>
          <a:xfrm>
            <a:off x="2159000" y="254000"/>
            <a:ext cx="2032000" cy="203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GB" sz="900" b="1">
                <a:solidFill>
                  <a:srgbClr val="A9CED0"/>
                </a:solidFill>
                <a:latin typeface="Aptos"/>
              </a:rPr>
              <a:t>CURRENT WORKFLOW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DEE3A6D-8D87-466A-AAAE-311E75A0984D}"/>
              </a:ext>
            </a:extLst>
          </p:cNvPr>
          <p:cNvSpPr txBox="1"/>
          <p:nvPr/>
        </p:nvSpPr>
        <p:spPr>
          <a:xfrm>
            <a:off x="11430000" y="6413500"/>
            <a:ext cx="304800" cy="177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GB" sz="900" b="1">
                <a:solidFill>
                  <a:srgbClr val="A9CED0"/>
                </a:solidFill>
                <a:latin typeface="Aptos"/>
              </a:rPr>
              <a:t>03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9A07313-174E-4735-A075-C9771ADD1320}"/>
              </a:ext>
            </a:extLst>
          </p:cNvPr>
          <p:cNvSpPr/>
          <p:nvPr/>
        </p:nvSpPr>
        <p:spPr>
          <a:xfrm>
            <a:off x="508000" y="6375400"/>
            <a:ext cx="10185400" cy="15240"/>
          </a:xfrm>
          <a:prstGeom prst="rect">
            <a:avLst/>
          </a:prstGeom>
          <a:solidFill>
            <a:srgbClr val="315B61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AEB0B1F-4CDD-4416-8FAC-BDDD9BB479AB}"/>
              </a:ext>
            </a:extLst>
          </p:cNvPr>
          <p:cNvSpPr txBox="1"/>
          <p:nvPr/>
        </p:nvSpPr>
        <p:spPr>
          <a:xfrm>
            <a:off x="635000" y="711200"/>
            <a:ext cx="9906000" cy="558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l"/>
            <a:r>
              <a:rPr lang="en-IN" sz="2600" b="1">
                <a:solidFill>
                  <a:srgbClr val="F6FAF9"/>
                </a:solidFill>
                <a:latin typeface="Aptos"/>
              </a:rPr>
              <a:t>Today, most inventory decisions are reactive</a:t>
            </a:r>
            <a:endParaRPr lang="en-GB" sz="2600" b="1">
              <a:solidFill>
                <a:srgbClr val="F6FAF9"/>
              </a:solidFill>
              <a:latin typeface="Aptos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3CD6F03-CBF3-4869-9030-A9AB0E5A849D}"/>
              </a:ext>
            </a:extLst>
          </p:cNvPr>
          <p:cNvSpPr txBox="1"/>
          <p:nvPr/>
        </p:nvSpPr>
        <p:spPr>
          <a:xfrm>
            <a:off x="635000" y="1308100"/>
            <a:ext cx="10414000" cy="304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l"/>
            <a:r>
              <a:rPr lang="en-IN" sz="1250">
                <a:solidFill>
                  <a:srgbClr val="A9CED0"/>
                </a:solidFill>
                <a:latin typeface="Aptos"/>
              </a:rPr>
              <a:t>The current process records transactions—but rarely turns them into timely inventory decisions.</a:t>
            </a:r>
            <a:endParaRPr lang="en-GB" sz="1250">
              <a:solidFill>
                <a:srgbClr val="A9CED0"/>
              </a:solidFill>
              <a:latin typeface="Aptos"/>
            </a:endParaRP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D2F4E08C-DCF1-4D7F-9B61-C05EDE1F7773}"/>
              </a:ext>
            </a:extLst>
          </p:cNvPr>
          <p:cNvSpPr/>
          <p:nvPr/>
        </p:nvSpPr>
        <p:spPr>
          <a:xfrm>
            <a:off x="635000" y="1854200"/>
            <a:ext cx="10922000" cy="1422400"/>
          </a:xfrm>
          <a:prstGeom prst="roundRect">
            <a:avLst/>
          </a:prstGeom>
          <a:solidFill>
            <a:srgbClr val="153F45"/>
          </a:solidFill>
          <a:ln w="12700" cap="flat" cmpd="sng" algn="ctr">
            <a:solidFill>
              <a:srgbClr val="28545A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01F8253-EA17-4207-9B57-FB2C52532D94}"/>
              </a:ext>
            </a:extLst>
          </p:cNvPr>
          <p:cNvSpPr txBox="1"/>
          <p:nvPr/>
        </p:nvSpPr>
        <p:spPr>
          <a:xfrm>
            <a:off x="889000" y="2006600"/>
            <a:ext cx="2794000" cy="203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GB" sz="900" b="1">
                <a:solidFill>
                  <a:srgbClr val="A9CED0"/>
                </a:solidFill>
                <a:latin typeface="Aptos"/>
              </a:rPr>
              <a:t>TODAY'S MANUAL WORKFLOW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BE1617F7-D3B6-458A-B26E-97E879433BA4}"/>
              </a:ext>
            </a:extLst>
          </p:cNvPr>
          <p:cNvSpPr/>
          <p:nvPr/>
        </p:nvSpPr>
        <p:spPr>
          <a:xfrm>
            <a:off x="889000" y="2413000"/>
            <a:ext cx="1422400" cy="533400"/>
          </a:xfrm>
          <a:prstGeom prst="roundRect">
            <a:avLst/>
          </a:prstGeom>
          <a:solidFill>
            <a:srgbClr val="10343A"/>
          </a:solidFill>
          <a:ln w="12700" cap="flat" cmpd="sng" algn="ctr">
            <a:solidFill>
              <a:srgbClr val="28545A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9442A892-E2F0-44D3-B096-B8B3CD7CA1F6}"/>
              </a:ext>
            </a:extLst>
          </p:cNvPr>
          <p:cNvSpPr/>
          <p:nvPr/>
        </p:nvSpPr>
        <p:spPr>
          <a:xfrm>
            <a:off x="1016000" y="2578100"/>
            <a:ext cx="203200" cy="203200"/>
          </a:xfrm>
          <a:prstGeom prst="ellipse">
            <a:avLst/>
          </a:prstGeom>
          <a:solidFill>
            <a:srgbClr val="5EC8E5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1CE7A14-29D4-46E3-B541-3FB34DFD6FE6}"/>
              </a:ext>
            </a:extLst>
          </p:cNvPr>
          <p:cNvSpPr txBox="1"/>
          <p:nvPr/>
        </p:nvSpPr>
        <p:spPr>
          <a:xfrm>
            <a:off x="1295400" y="2476500"/>
            <a:ext cx="914400" cy="406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l"/>
            <a:r>
              <a:rPr lang="en-GB" sz="950" b="1">
                <a:solidFill>
                  <a:srgbClr val="F6FAF9"/>
                </a:solidFill>
                <a:latin typeface="Aptos"/>
              </a:rPr>
              <a:t>Supplier
invoice</a:t>
            </a:r>
          </a:p>
        </p:txBody>
      </p:sp>
      <p:sp>
        <p:nvSpPr>
          <p:cNvPr id="42" name="Arrow: Right 41">
            <a:extLst>
              <a:ext uri="{FF2B5EF4-FFF2-40B4-BE49-F238E27FC236}">
                <a16:creationId xmlns:a16="http://schemas.microsoft.com/office/drawing/2014/main" id="{1E904283-E0AD-4DE7-BBC2-73F3662655B4}"/>
              </a:ext>
            </a:extLst>
          </p:cNvPr>
          <p:cNvSpPr/>
          <p:nvPr/>
        </p:nvSpPr>
        <p:spPr>
          <a:xfrm>
            <a:off x="2374900" y="2603500"/>
            <a:ext cx="228600" cy="152400"/>
          </a:xfrm>
          <a:prstGeom prst="rightArrow">
            <a:avLst/>
          </a:prstGeom>
          <a:solidFill>
            <a:srgbClr val="6C9699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41EDBB7A-66F6-43C2-95C9-48E7A4721AA7}"/>
              </a:ext>
            </a:extLst>
          </p:cNvPr>
          <p:cNvSpPr/>
          <p:nvPr/>
        </p:nvSpPr>
        <p:spPr>
          <a:xfrm>
            <a:off x="2717800" y="2413000"/>
            <a:ext cx="1320800" cy="533400"/>
          </a:xfrm>
          <a:prstGeom prst="roundRect">
            <a:avLst/>
          </a:prstGeom>
          <a:solidFill>
            <a:srgbClr val="10343A"/>
          </a:solidFill>
          <a:ln w="12700" cap="flat" cmpd="sng" algn="ctr">
            <a:solidFill>
              <a:srgbClr val="28545A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61412DCE-A939-4A11-B704-8150217822D0}"/>
              </a:ext>
            </a:extLst>
          </p:cNvPr>
          <p:cNvSpPr/>
          <p:nvPr/>
        </p:nvSpPr>
        <p:spPr>
          <a:xfrm>
            <a:off x="2844800" y="2578100"/>
            <a:ext cx="203200" cy="203200"/>
          </a:xfrm>
          <a:prstGeom prst="ellipse">
            <a:avLst/>
          </a:prstGeom>
          <a:solidFill>
            <a:srgbClr val="FF735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B0EE576-0F8A-41C0-9936-4F2BCA55B7A3}"/>
              </a:ext>
            </a:extLst>
          </p:cNvPr>
          <p:cNvSpPr txBox="1"/>
          <p:nvPr/>
        </p:nvSpPr>
        <p:spPr>
          <a:xfrm>
            <a:off x="3124200" y="2476500"/>
            <a:ext cx="812800" cy="406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l"/>
            <a:r>
              <a:rPr lang="en-GB" sz="950" b="1">
                <a:solidFill>
                  <a:srgbClr val="F6FAF9"/>
                </a:solidFill>
                <a:latin typeface="Aptos"/>
              </a:rPr>
              <a:t>Manual
entry</a:t>
            </a:r>
          </a:p>
        </p:txBody>
      </p:sp>
      <p:sp>
        <p:nvSpPr>
          <p:cNvPr id="46" name="Arrow: Right 45">
            <a:extLst>
              <a:ext uri="{FF2B5EF4-FFF2-40B4-BE49-F238E27FC236}">
                <a16:creationId xmlns:a16="http://schemas.microsoft.com/office/drawing/2014/main" id="{8C01F73F-A034-4D1A-98C8-CEC7299661C3}"/>
              </a:ext>
            </a:extLst>
          </p:cNvPr>
          <p:cNvSpPr/>
          <p:nvPr/>
        </p:nvSpPr>
        <p:spPr>
          <a:xfrm>
            <a:off x="4102100" y="2603500"/>
            <a:ext cx="228600" cy="152400"/>
          </a:xfrm>
          <a:prstGeom prst="rightArrow">
            <a:avLst/>
          </a:prstGeom>
          <a:solidFill>
            <a:srgbClr val="6C9699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CF93F345-82FC-4668-9008-9CA12B6E0442}"/>
              </a:ext>
            </a:extLst>
          </p:cNvPr>
          <p:cNvSpPr/>
          <p:nvPr/>
        </p:nvSpPr>
        <p:spPr>
          <a:xfrm>
            <a:off x="4445000" y="2413000"/>
            <a:ext cx="1041400" cy="533400"/>
          </a:xfrm>
          <a:prstGeom prst="roundRect">
            <a:avLst/>
          </a:prstGeom>
          <a:solidFill>
            <a:srgbClr val="10343A"/>
          </a:solidFill>
          <a:ln w="12700" cap="flat" cmpd="sng" algn="ctr">
            <a:solidFill>
              <a:srgbClr val="28545A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2D780BF6-25BB-4312-BB78-83D709214C4B}"/>
              </a:ext>
            </a:extLst>
          </p:cNvPr>
          <p:cNvSpPr/>
          <p:nvPr/>
        </p:nvSpPr>
        <p:spPr>
          <a:xfrm>
            <a:off x="4572000" y="2578100"/>
            <a:ext cx="203200" cy="203200"/>
          </a:xfrm>
          <a:prstGeom prst="ellipse">
            <a:avLst/>
          </a:prstGeom>
          <a:solidFill>
            <a:srgbClr val="FF735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81992F4-AFB8-4EBD-B3EA-E87286024C4D}"/>
              </a:ext>
            </a:extLst>
          </p:cNvPr>
          <p:cNvSpPr txBox="1"/>
          <p:nvPr/>
        </p:nvSpPr>
        <p:spPr>
          <a:xfrm>
            <a:off x="4851400" y="2476500"/>
            <a:ext cx="533400" cy="406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l"/>
            <a:r>
              <a:rPr lang="en-GB" sz="950" b="1">
                <a:solidFill>
                  <a:srgbClr val="F6FAF9"/>
                </a:solidFill>
                <a:latin typeface="Aptos"/>
              </a:rPr>
              <a:t>Shelf</a:t>
            </a:r>
          </a:p>
        </p:txBody>
      </p:sp>
      <p:sp>
        <p:nvSpPr>
          <p:cNvPr id="50" name="Arrow: Right 49">
            <a:extLst>
              <a:ext uri="{FF2B5EF4-FFF2-40B4-BE49-F238E27FC236}">
                <a16:creationId xmlns:a16="http://schemas.microsoft.com/office/drawing/2014/main" id="{0F5594B7-BE31-4CB5-AE6A-D20E756619F8}"/>
              </a:ext>
            </a:extLst>
          </p:cNvPr>
          <p:cNvSpPr/>
          <p:nvPr/>
        </p:nvSpPr>
        <p:spPr>
          <a:xfrm>
            <a:off x="5549900" y="2603500"/>
            <a:ext cx="228600" cy="152400"/>
          </a:xfrm>
          <a:prstGeom prst="rightArrow">
            <a:avLst/>
          </a:prstGeom>
          <a:solidFill>
            <a:srgbClr val="6C9699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95205ED5-F37F-4F68-A1A1-F1C494A9E1B3}"/>
              </a:ext>
            </a:extLst>
          </p:cNvPr>
          <p:cNvSpPr/>
          <p:nvPr/>
        </p:nvSpPr>
        <p:spPr>
          <a:xfrm>
            <a:off x="5892800" y="2413000"/>
            <a:ext cx="965200" cy="533400"/>
          </a:xfrm>
          <a:prstGeom prst="roundRect">
            <a:avLst/>
          </a:prstGeom>
          <a:solidFill>
            <a:srgbClr val="10343A"/>
          </a:solidFill>
          <a:ln w="12700" cap="flat" cmpd="sng" algn="ctr">
            <a:solidFill>
              <a:srgbClr val="28545A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35EFC632-0D84-41DB-886E-C4DFF8923AB7}"/>
              </a:ext>
            </a:extLst>
          </p:cNvPr>
          <p:cNvSpPr/>
          <p:nvPr/>
        </p:nvSpPr>
        <p:spPr>
          <a:xfrm>
            <a:off x="6019800" y="2578100"/>
            <a:ext cx="203200" cy="203200"/>
          </a:xfrm>
          <a:prstGeom prst="ellipse">
            <a:avLst/>
          </a:prstGeom>
          <a:solidFill>
            <a:srgbClr val="FF735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E71F186-FA70-44E3-A5F4-4EE98DFD69B8}"/>
              </a:ext>
            </a:extLst>
          </p:cNvPr>
          <p:cNvSpPr txBox="1"/>
          <p:nvPr/>
        </p:nvSpPr>
        <p:spPr>
          <a:xfrm>
            <a:off x="6299200" y="2476500"/>
            <a:ext cx="457200" cy="406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l"/>
            <a:r>
              <a:rPr lang="en-GB" sz="950" b="1">
                <a:solidFill>
                  <a:srgbClr val="F6FAF9"/>
                </a:solidFill>
                <a:latin typeface="Aptos"/>
              </a:rPr>
              <a:t>Sale</a:t>
            </a:r>
          </a:p>
        </p:txBody>
      </p:sp>
      <p:sp>
        <p:nvSpPr>
          <p:cNvPr id="54" name="Arrow: Right 53">
            <a:extLst>
              <a:ext uri="{FF2B5EF4-FFF2-40B4-BE49-F238E27FC236}">
                <a16:creationId xmlns:a16="http://schemas.microsoft.com/office/drawing/2014/main" id="{C2E82D78-727E-41A4-A8A7-0BBB0EEB07D4}"/>
              </a:ext>
            </a:extLst>
          </p:cNvPr>
          <p:cNvSpPr/>
          <p:nvPr/>
        </p:nvSpPr>
        <p:spPr>
          <a:xfrm>
            <a:off x="6921500" y="2603500"/>
            <a:ext cx="228600" cy="152400"/>
          </a:xfrm>
          <a:prstGeom prst="rightArrow">
            <a:avLst/>
          </a:prstGeom>
          <a:solidFill>
            <a:srgbClr val="6C9699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389A4378-BA81-4CD5-83D5-264DFEBA7F96}"/>
              </a:ext>
            </a:extLst>
          </p:cNvPr>
          <p:cNvSpPr/>
          <p:nvPr/>
        </p:nvSpPr>
        <p:spPr>
          <a:xfrm>
            <a:off x="7264400" y="2413000"/>
            <a:ext cx="1524000" cy="533400"/>
          </a:xfrm>
          <a:prstGeom prst="roundRect">
            <a:avLst/>
          </a:prstGeom>
          <a:solidFill>
            <a:srgbClr val="10343A"/>
          </a:solidFill>
          <a:ln w="12700" cap="flat" cmpd="sng" algn="ctr">
            <a:solidFill>
              <a:srgbClr val="28545A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2A871FFD-8CB3-4839-94E3-A7393A06C7E2}"/>
              </a:ext>
            </a:extLst>
          </p:cNvPr>
          <p:cNvSpPr/>
          <p:nvPr/>
        </p:nvSpPr>
        <p:spPr>
          <a:xfrm>
            <a:off x="7391400" y="2578100"/>
            <a:ext cx="203200" cy="203200"/>
          </a:xfrm>
          <a:prstGeom prst="ellipse">
            <a:avLst/>
          </a:prstGeom>
          <a:solidFill>
            <a:srgbClr val="FF735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93A84F0-5BA3-4045-B6EC-3A406B71EA1B}"/>
              </a:ext>
            </a:extLst>
          </p:cNvPr>
          <p:cNvSpPr txBox="1"/>
          <p:nvPr/>
        </p:nvSpPr>
        <p:spPr>
          <a:xfrm>
            <a:off x="7670800" y="2476500"/>
            <a:ext cx="1016000" cy="406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l"/>
            <a:r>
              <a:rPr lang="en-GB" sz="950" b="1">
                <a:solidFill>
                  <a:srgbClr val="F6FAF9"/>
                </a:solidFill>
                <a:latin typeface="Aptos"/>
              </a:rPr>
              <a:t>Manual stock
update</a:t>
            </a:r>
          </a:p>
        </p:txBody>
      </p:sp>
      <p:sp>
        <p:nvSpPr>
          <p:cNvPr id="58" name="Arrow: Right 57">
            <a:extLst>
              <a:ext uri="{FF2B5EF4-FFF2-40B4-BE49-F238E27FC236}">
                <a16:creationId xmlns:a16="http://schemas.microsoft.com/office/drawing/2014/main" id="{83924724-3C8C-41F6-BA42-271B7A8597A5}"/>
              </a:ext>
            </a:extLst>
          </p:cNvPr>
          <p:cNvSpPr/>
          <p:nvPr/>
        </p:nvSpPr>
        <p:spPr>
          <a:xfrm>
            <a:off x="8851900" y="2603500"/>
            <a:ext cx="228600" cy="152400"/>
          </a:xfrm>
          <a:prstGeom prst="rightArrow">
            <a:avLst/>
          </a:prstGeom>
          <a:solidFill>
            <a:srgbClr val="6C9699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FC69263D-73C6-498E-A8A6-0FC1A4665552}"/>
              </a:ext>
            </a:extLst>
          </p:cNvPr>
          <p:cNvSpPr/>
          <p:nvPr/>
        </p:nvSpPr>
        <p:spPr>
          <a:xfrm>
            <a:off x="9194800" y="2413000"/>
            <a:ext cx="1600200" cy="533400"/>
          </a:xfrm>
          <a:prstGeom prst="roundRect">
            <a:avLst/>
          </a:prstGeom>
          <a:solidFill>
            <a:srgbClr val="10343A"/>
          </a:solidFill>
          <a:ln w="12700" cap="flat" cmpd="sng" algn="ctr">
            <a:solidFill>
              <a:srgbClr val="28545A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4971B651-4E2B-4335-9705-3F0CE303B57F}"/>
              </a:ext>
            </a:extLst>
          </p:cNvPr>
          <p:cNvSpPr/>
          <p:nvPr/>
        </p:nvSpPr>
        <p:spPr>
          <a:xfrm>
            <a:off x="9321800" y="2578100"/>
            <a:ext cx="203200" cy="203200"/>
          </a:xfrm>
          <a:prstGeom prst="ellipse">
            <a:avLst/>
          </a:prstGeom>
          <a:solidFill>
            <a:srgbClr val="FF735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857FF28-9141-4C79-8389-AB8E9E80A3D8}"/>
              </a:ext>
            </a:extLst>
          </p:cNvPr>
          <p:cNvSpPr txBox="1"/>
          <p:nvPr/>
        </p:nvSpPr>
        <p:spPr>
          <a:xfrm>
            <a:off x="9601200" y="2476500"/>
            <a:ext cx="1092200" cy="406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l"/>
            <a:r>
              <a:rPr lang="en-GB" sz="950" b="1">
                <a:solidFill>
                  <a:srgbClr val="F6FAF9"/>
                </a:solidFill>
                <a:latin typeface="Aptos"/>
              </a:rPr>
              <a:t>Periodic stock
check</a:t>
            </a:r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4EFDFB39-DA0B-40D5-82BB-3CA229B7D94C}"/>
              </a:ext>
            </a:extLst>
          </p:cNvPr>
          <p:cNvSpPr/>
          <p:nvPr/>
        </p:nvSpPr>
        <p:spPr>
          <a:xfrm>
            <a:off x="635000" y="3505200"/>
            <a:ext cx="10922000" cy="990600"/>
          </a:xfrm>
          <a:prstGeom prst="roundRect">
            <a:avLst/>
          </a:prstGeom>
          <a:solidFill>
            <a:srgbClr val="2A2425"/>
          </a:solidFill>
          <a:ln w="12700" cap="flat" cmpd="sng" algn="ctr">
            <a:solidFill>
              <a:srgbClr val="654143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538C657-4B9D-473B-9B52-3910B2DF55DB}"/>
              </a:ext>
            </a:extLst>
          </p:cNvPr>
          <p:cNvSpPr txBox="1"/>
          <p:nvPr/>
        </p:nvSpPr>
        <p:spPr>
          <a:xfrm>
            <a:off x="889000" y="3657600"/>
            <a:ext cx="2794000" cy="203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GB" sz="900" b="1">
                <a:solidFill>
                  <a:srgbClr val="FF735F"/>
                </a:solidFill>
                <a:latin typeface="Aptos"/>
              </a:rPr>
              <a:t>WHERE THE PROCESS BREAKS</a:t>
            </a:r>
          </a:p>
        </p:txBody>
      </p:sp>
      <p:sp>
        <p:nvSpPr>
          <p:cNvPr id="64" name="Rectangle: Rounded Corners 63">
            <a:extLst>
              <a:ext uri="{FF2B5EF4-FFF2-40B4-BE49-F238E27FC236}">
                <a16:creationId xmlns:a16="http://schemas.microsoft.com/office/drawing/2014/main" id="{8D03176C-6254-464F-B672-D627C7E89B04}"/>
              </a:ext>
            </a:extLst>
          </p:cNvPr>
          <p:cNvSpPr/>
          <p:nvPr/>
        </p:nvSpPr>
        <p:spPr>
          <a:xfrm>
            <a:off x="889000" y="4013200"/>
            <a:ext cx="1422400" cy="317500"/>
          </a:xfrm>
          <a:prstGeom prst="roundRect">
            <a:avLst/>
          </a:prstGeom>
          <a:solidFill>
            <a:srgbClr val="493033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70A9399-7CF6-43A3-9C47-5DE27ACC29D1}"/>
              </a:ext>
            </a:extLst>
          </p:cNvPr>
          <p:cNvSpPr txBox="1"/>
          <p:nvPr/>
        </p:nvSpPr>
        <p:spPr>
          <a:xfrm>
            <a:off x="965200" y="4051300"/>
            <a:ext cx="1270000" cy="22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l"/>
            <a:r>
              <a:rPr lang="en-GB" sz="850" b="1">
                <a:solidFill>
                  <a:srgbClr val="F5C2BA"/>
                </a:solidFill>
                <a:latin typeface="Aptos"/>
              </a:rPr>
              <a:t>Manual process</a:t>
            </a:r>
          </a:p>
        </p:txBody>
      </p:sp>
      <p:sp>
        <p:nvSpPr>
          <p:cNvPr id="66" name="Arrow: Right 65">
            <a:extLst>
              <a:ext uri="{FF2B5EF4-FFF2-40B4-BE49-F238E27FC236}">
                <a16:creationId xmlns:a16="http://schemas.microsoft.com/office/drawing/2014/main" id="{F15FF2DA-09B4-4DD5-A8B1-35F4B2B1C0C3}"/>
              </a:ext>
            </a:extLst>
          </p:cNvPr>
          <p:cNvSpPr/>
          <p:nvPr/>
        </p:nvSpPr>
        <p:spPr>
          <a:xfrm>
            <a:off x="2374900" y="4102100"/>
            <a:ext cx="203200" cy="152400"/>
          </a:xfrm>
          <a:prstGeom prst="rightArrow">
            <a:avLst/>
          </a:prstGeom>
          <a:solidFill>
            <a:srgbClr val="FF735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98B164FC-60C5-4697-8A1D-6A6675BC0A13}"/>
              </a:ext>
            </a:extLst>
          </p:cNvPr>
          <p:cNvSpPr/>
          <p:nvPr/>
        </p:nvSpPr>
        <p:spPr>
          <a:xfrm>
            <a:off x="2667000" y="4013200"/>
            <a:ext cx="1422400" cy="317500"/>
          </a:xfrm>
          <a:prstGeom prst="roundRect">
            <a:avLst/>
          </a:prstGeom>
          <a:solidFill>
            <a:srgbClr val="493033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79464875-595B-4683-BB85-C0A6452760A2}"/>
              </a:ext>
            </a:extLst>
          </p:cNvPr>
          <p:cNvSpPr txBox="1"/>
          <p:nvPr/>
        </p:nvSpPr>
        <p:spPr>
          <a:xfrm>
            <a:off x="2743200" y="4051300"/>
            <a:ext cx="1270000" cy="22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l"/>
            <a:r>
              <a:rPr lang="en-GB" sz="850" b="1">
                <a:solidFill>
                  <a:srgbClr val="F5C2BA"/>
                </a:solidFill>
                <a:latin typeface="Aptos"/>
              </a:rPr>
              <a:t>Time consuming</a:t>
            </a:r>
          </a:p>
        </p:txBody>
      </p:sp>
      <p:sp>
        <p:nvSpPr>
          <p:cNvPr id="69" name="Arrow: Right 68">
            <a:extLst>
              <a:ext uri="{FF2B5EF4-FFF2-40B4-BE49-F238E27FC236}">
                <a16:creationId xmlns:a16="http://schemas.microsoft.com/office/drawing/2014/main" id="{9979C1E6-8A94-499F-A118-F0DA3CD545FB}"/>
              </a:ext>
            </a:extLst>
          </p:cNvPr>
          <p:cNvSpPr/>
          <p:nvPr/>
        </p:nvSpPr>
        <p:spPr>
          <a:xfrm>
            <a:off x="4152900" y="4102100"/>
            <a:ext cx="203200" cy="152400"/>
          </a:xfrm>
          <a:prstGeom prst="rightArrow">
            <a:avLst/>
          </a:prstGeom>
          <a:solidFill>
            <a:srgbClr val="FF735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70" name="Rectangle: Rounded Corners 69">
            <a:extLst>
              <a:ext uri="{FF2B5EF4-FFF2-40B4-BE49-F238E27FC236}">
                <a16:creationId xmlns:a16="http://schemas.microsoft.com/office/drawing/2014/main" id="{C393EA13-E73A-4C23-9366-65ADAC84360F}"/>
              </a:ext>
            </a:extLst>
          </p:cNvPr>
          <p:cNvSpPr/>
          <p:nvPr/>
        </p:nvSpPr>
        <p:spPr>
          <a:xfrm>
            <a:off x="4445000" y="4013200"/>
            <a:ext cx="1320800" cy="317500"/>
          </a:xfrm>
          <a:prstGeom prst="roundRect">
            <a:avLst/>
          </a:prstGeom>
          <a:solidFill>
            <a:srgbClr val="493033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04872E27-133C-4FF4-A765-3E3DE7F0923D}"/>
              </a:ext>
            </a:extLst>
          </p:cNvPr>
          <p:cNvSpPr txBox="1"/>
          <p:nvPr/>
        </p:nvSpPr>
        <p:spPr>
          <a:xfrm>
            <a:off x="4521200" y="4051300"/>
            <a:ext cx="1168400" cy="22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l"/>
            <a:r>
              <a:rPr lang="en-GB" sz="850" b="1">
                <a:solidFill>
                  <a:srgbClr val="F5C2BA"/>
                </a:solidFill>
                <a:latin typeface="Aptos"/>
              </a:rPr>
              <a:t>Human errors</a:t>
            </a:r>
          </a:p>
        </p:txBody>
      </p:sp>
      <p:sp>
        <p:nvSpPr>
          <p:cNvPr id="72" name="Arrow: Right 71">
            <a:extLst>
              <a:ext uri="{FF2B5EF4-FFF2-40B4-BE49-F238E27FC236}">
                <a16:creationId xmlns:a16="http://schemas.microsoft.com/office/drawing/2014/main" id="{03542C40-95E7-4463-A85F-C14FD0B6DF07}"/>
              </a:ext>
            </a:extLst>
          </p:cNvPr>
          <p:cNvSpPr/>
          <p:nvPr/>
        </p:nvSpPr>
        <p:spPr>
          <a:xfrm>
            <a:off x="5829300" y="4102100"/>
            <a:ext cx="203200" cy="152400"/>
          </a:xfrm>
          <a:prstGeom prst="rightArrow">
            <a:avLst/>
          </a:prstGeom>
          <a:solidFill>
            <a:srgbClr val="FF735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73" name="Rectangle: Rounded Corners 72">
            <a:extLst>
              <a:ext uri="{FF2B5EF4-FFF2-40B4-BE49-F238E27FC236}">
                <a16:creationId xmlns:a16="http://schemas.microsoft.com/office/drawing/2014/main" id="{41FDE851-59A1-4F0E-8416-DD75E6843098}"/>
              </a:ext>
            </a:extLst>
          </p:cNvPr>
          <p:cNvSpPr/>
          <p:nvPr/>
        </p:nvSpPr>
        <p:spPr>
          <a:xfrm>
            <a:off x="6121400" y="4013200"/>
            <a:ext cx="1168400" cy="317500"/>
          </a:xfrm>
          <a:prstGeom prst="roundRect">
            <a:avLst/>
          </a:prstGeom>
          <a:solidFill>
            <a:srgbClr val="493033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DD39FFE5-E00E-4495-8E51-397D42733648}"/>
              </a:ext>
            </a:extLst>
          </p:cNvPr>
          <p:cNvSpPr txBox="1"/>
          <p:nvPr/>
        </p:nvSpPr>
        <p:spPr>
          <a:xfrm>
            <a:off x="6197600" y="4051300"/>
            <a:ext cx="1016000" cy="22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l"/>
            <a:r>
              <a:rPr lang="en-GB" sz="850" b="1">
                <a:solidFill>
                  <a:srgbClr val="F5C2BA"/>
                </a:solidFill>
                <a:latin typeface="Aptos"/>
              </a:rPr>
              <a:t>Expiry loss</a:t>
            </a:r>
          </a:p>
        </p:txBody>
      </p:sp>
      <p:sp>
        <p:nvSpPr>
          <p:cNvPr id="75" name="Arrow: Right 74">
            <a:extLst>
              <a:ext uri="{FF2B5EF4-FFF2-40B4-BE49-F238E27FC236}">
                <a16:creationId xmlns:a16="http://schemas.microsoft.com/office/drawing/2014/main" id="{830F970D-1409-4D30-A144-970172D67306}"/>
              </a:ext>
            </a:extLst>
          </p:cNvPr>
          <p:cNvSpPr/>
          <p:nvPr/>
        </p:nvSpPr>
        <p:spPr>
          <a:xfrm>
            <a:off x="7353300" y="4102100"/>
            <a:ext cx="203200" cy="152400"/>
          </a:xfrm>
          <a:prstGeom prst="rightArrow">
            <a:avLst/>
          </a:prstGeom>
          <a:solidFill>
            <a:srgbClr val="FF735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76" name="Rectangle: Rounded Corners 75">
            <a:extLst>
              <a:ext uri="{FF2B5EF4-FFF2-40B4-BE49-F238E27FC236}">
                <a16:creationId xmlns:a16="http://schemas.microsoft.com/office/drawing/2014/main" id="{4FA25ACA-FBBA-4A82-976A-008E9BA93A68}"/>
              </a:ext>
            </a:extLst>
          </p:cNvPr>
          <p:cNvSpPr/>
          <p:nvPr/>
        </p:nvSpPr>
        <p:spPr>
          <a:xfrm>
            <a:off x="7645400" y="4013200"/>
            <a:ext cx="1422400" cy="317500"/>
          </a:xfrm>
          <a:prstGeom prst="roundRect">
            <a:avLst/>
          </a:prstGeom>
          <a:solidFill>
            <a:srgbClr val="493033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EAF68CF1-4BE8-419B-AC57-7BCAA3FC09B2}"/>
              </a:ext>
            </a:extLst>
          </p:cNvPr>
          <p:cNvSpPr txBox="1"/>
          <p:nvPr/>
        </p:nvSpPr>
        <p:spPr>
          <a:xfrm>
            <a:off x="7721600" y="4051300"/>
            <a:ext cx="1270000" cy="22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l"/>
            <a:r>
              <a:rPr lang="en-GB" sz="850" b="1">
                <a:solidFill>
                  <a:srgbClr val="F5C2BA"/>
                </a:solidFill>
                <a:latin typeface="Aptos"/>
              </a:rPr>
              <a:t>Stock mismatch</a:t>
            </a:r>
          </a:p>
        </p:txBody>
      </p:sp>
      <p:sp>
        <p:nvSpPr>
          <p:cNvPr id="78" name="Arrow: Right 77">
            <a:extLst>
              <a:ext uri="{FF2B5EF4-FFF2-40B4-BE49-F238E27FC236}">
                <a16:creationId xmlns:a16="http://schemas.microsoft.com/office/drawing/2014/main" id="{5D6B88B0-57DF-4B4A-BA80-D11BFE1939C9}"/>
              </a:ext>
            </a:extLst>
          </p:cNvPr>
          <p:cNvSpPr/>
          <p:nvPr/>
        </p:nvSpPr>
        <p:spPr>
          <a:xfrm>
            <a:off x="9131300" y="4102100"/>
            <a:ext cx="203200" cy="152400"/>
          </a:xfrm>
          <a:prstGeom prst="rightArrow">
            <a:avLst/>
          </a:prstGeom>
          <a:solidFill>
            <a:srgbClr val="FF735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79" name="Rectangle: Rounded Corners 78">
            <a:extLst>
              <a:ext uri="{FF2B5EF4-FFF2-40B4-BE49-F238E27FC236}">
                <a16:creationId xmlns:a16="http://schemas.microsoft.com/office/drawing/2014/main" id="{580B4EC7-DA51-4198-A683-DCC0211731B9}"/>
              </a:ext>
            </a:extLst>
          </p:cNvPr>
          <p:cNvSpPr/>
          <p:nvPr/>
        </p:nvSpPr>
        <p:spPr>
          <a:xfrm>
            <a:off x="9423400" y="4013200"/>
            <a:ext cx="1168400" cy="317500"/>
          </a:xfrm>
          <a:prstGeom prst="roundRect">
            <a:avLst/>
          </a:prstGeom>
          <a:solidFill>
            <a:srgbClr val="493033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A5AF56E2-BA42-44E0-9BA5-E6E63612E7E9}"/>
              </a:ext>
            </a:extLst>
          </p:cNvPr>
          <p:cNvSpPr txBox="1"/>
          <p:nvPr/>
        </p:nvSpPr>
        <p:spPr>
          <a:xfrm>
            <a:off x="9499600" y="4051300"/>
            <a:ext cx="1016000" cy="22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l"/>
            <a:r>
              <a:rPr lang="en-GB" sz="850" b="1">
                <a:solidFill>
                  <a:srgbClr val="F6FAF9"/>
                </a:solidFill>
                <a:latin typeface="Aptos"/>
              </a:rPr>
              <a:t>Stockouts</a:t>
            </a:r>
          </a:p>
        </p:txBody>
      </p:sp>
      <p:sp>
        <p:nvSpPr>
          <p:cNvPr id="81" name="Rectangle: Rounded Corners 80">
            <a:extLst>
              <a:ext uri="{FF2B5EF4-FFF2-40B4-BE49-F238E27FC236}">
                <a16:creationId xmlns:a16="http://schemas.microsoft.com/office/drawing/2014/main" id="{57A83C2B-A9F6-44BC-ADE5-E7AE535BC050}"/>
              </a:ext>
            </a:extLst>
          </p:cNvPr>
          <p:cNvSpPr/>
          <p:nvPr/>
        </p:nvSpPr>
        <p:spPr>
          <a:xfrm>
            <a:off x="635000" y="4724400"/>
            <a:ext cx="10922000" cy="1371600"/>
          </a:xfrm>
          <a:prstGeom prst="roundRect">
            <a:avLst/>
          </a:prstGeom>
          <a:solidFill>
            <a:srgbClr val="10343A"/>
          </a:solidFill>
          <a:ln w="12700" cap="flat" cmpd="sng" algn="ctr">
            <a:solidFill>
              <a:srgbClr val="2D6865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701ECAEB-F2F2-4902-91B4-AFC25FD4FB2F}"/>
              </a:ext>
            </a:extLst>
          </p:cNvPr>
          <p:cNvSpPr txBox="1"/>
          <p:nvPr/>
        </p:nvSpPr>
        <p:spPr>
          <a:xfrm>
            <a:off x="889000" y="4876800"/>
            <a:ext cx="2032000" cy="203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GB" sz="900" b="1">
                <a:solidFill>
                  <a:srgbClr val="4FE0B3"/>
                </a:solidFill>
                <a:latin typeface="Aptos"/>
              </a:rPr>
              <a:t>WITH DOSEDECK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245DE390-F1A2-460F-A0E8-288156167906}"/>
              </a:ext>
            </a:extLst>
          </p:cNvPr>
          <p:cNvSpPr txBox="1"/>
          <p:nvPr/>
        </p:nvSpPr>
        <p:spPr>
          <a:xfrm>
            <a:off x="2540000" y="4826000"/>
            <a:ext cx="7620000" cy="2921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l"/>
            <a:r>
              <a:rPr lang="en-IN" sz="1300" b="1">
                <a:solidFill>
                  <a:srgbClr val="F6FAF9"/>
                </a:solidFill>
                <a:latin typeface="Aptos"/>
              </a:rPr>
              <a:t>Scan invoices. Monitor every sale. Know what sells out.</a:t>
            </a:r>
            <a:endParaRPr lang="en-GB" sz="1300" b="1">
              <a:solidFill>
                <a:srgbClr val="F6FAF9"/>
              </a:solidFill>
              <a:latin typeface="Aptos"/>
            </a:endParaRPr>
          </a:p>
        </p:txBody>
      </p:sp>
      <p:sp>
        <p:nvSpPr>
          <p:cNvPr id="84" name="Rectangle: Rounded Corners 83">
            <a:extLst>
              <a:ext uri="{FF2B5EF4-FFF2-40B4-BE49-F238E27FC236}">
                <a16:creationId xmlns:a16="http://schemas.microsoft.com/office/drawing/2014/main" id="{3E1A1057-0D45-459D-968C-E3B3069E8D8E}"/>
              </a:ext>
            </a:extLst>
          </p:cNvPr>
          <p:cNvSpPr/>
          <p:nvPr/>
        </p:nvSpPr>
        <p:spPr>
          <a:xfrm>
            <a:off x="889000" y="5308600"/>
            <a:ext cx="1651000" cy="584200"/>
          </a:xfrm>
          <a:prstGeom prst="roundRect">
            <a:avLst/>
          </a:prstGeom>
          <a:solidFill>
            <a:srgbClr val="0C292F"/>
          </a:solidFill>
          <a:ln w="12700" cap="flat" cmpd="sng" algn="ctr">
            <a:solidFill>
              <a:srgbClr val="2D6865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C9815685-E0B7-4E41-A020-5164D2C787D3}"/>
              </a:ext>
            </a:extLst>
          </p:cNvPr>
          <p:cNvSpPr/>
          <p:nvPr/>
        </p:nvSpPr>
        <p:spPr>
          <a:xfrm>
            <a:off x="1016000" y="5499100"/>
            <a:ext cx="203200" cy="203200"/>
          </a:xfrm>
          <a:prstGeom prst="ellipse">
            <a:avLst/>
          </a:prstGeom>
          <a:solidFill>
            <a:srgbClr val="5EC8E5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E99242F-E6BE-4CBF-BBFF-9E43758D6797}"/>
              </a:ext>
            </a:extLst>
          </p:cNvPr>
          <p:cNvSpPr txBox="1"/>
          <p:nvPr/>
        </p:nvSpPr>
        <p:spPr>
          <a:xfrm>
            <a:off x="1320800" y="5346700"/>
            <a:ext cx="1117600" cy="2159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GB" sz="950" b="1">
                <a:solidFill>
                  <a:srgbClr val="F6FAF9"/>
                </a:solidFill>
                <a:latin typeface="Aptos"/>
              </a:rPr>
              <a:t>SCAN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2AAEA064-3BF4-48DC-B575-FDEBA7DB2F93}"/>
              </a:ext>
            </a:extLst>
          </p:cNvPr>
          <p:cNvSpPr txBox="1"/>
          <p:nvPr/>
        </p:nvSpPr>
        <p:spPr>
          <a:xfrm>
            <a:off x="1320800" y="5588000"/>
            <a:ext cx="1117600" cy="1651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GB" sz="800">
                <a:solidFill>
                  <a:srgbClr val="A9CED0"/>
                </a:solidFill>
                <a:latin typeface="Aptos"/>
              </a:rPr>
              <a:t>Invoices</a:t>
            </a:r>
          </a:p>
        </p:txBody>
      </p:sp>
      <p:sp>
        <p:nvSpPr>
          <p:cNvPr id="88" name="Arrow: Right 87">
            <a:extLst>
              <a:ext uri="{FF2B5EF4-FFF2-40B4-BE49-F238E27FC236}">
                <a16:creationId xmlns:a16="http://schemas.microsoft.com/office/drawing/2014/main" id="{46E927C1-51F8-4788-B8F3-2E207243113D}"/>
              </a:ext>
            </a:extLst>
          </p:cNvPr>
          <p:cNvSpPr/>
          <p:nvPr/>
        </p:nvSpPr>
        <p:spPr>
          <a:xfrm>
            <a:off x="2628900" y="5524500"/>
            <a:ext cx="254000" cy="152400"/>
          </a:xfrm>
          <a:prstGeom prst="rightArrow">
            <a:avLst/>
          </a:prstGeom>
          <a:solidFill>
            <a:srgbClr val="4FE0B3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89" name="Rectangle: Rounded Corners 88">
            <a:extLst>
              <a:ext uri="{FF2B5EF4-FFF2-40B4-BE49-F238E27FC236}">
                <a16:creationId xmlns:a16="http://schemas.microsoft.com/office/drawing/2014/main" id="{52FE03D2-2AEC-4281-AEBA-1AF9E54863D2}"/>
              </a:ext>
            </a:extLst>
          </p:cNvPr>
          <p:cNvSpPr/>
          <p:nvPr/>
        </p:nvSpPr>
        <p:spPr>
          <a:xfrm>
            <a:off x="2984500" y="5308600"/>
            <a:ext cx="1651000" cy="584200"/>
          </a:xfrm>
          <a:prstGeom prst="roundRect">
            <a:avLst/>
          </a:prstGeom>
          <a:solidFill>
            <a:srgbClr val="0C292F"/>
          </a:solidFill>
          <a:ln w="12700" cap="flat" cmpd="sng" algn="ctr">
            <a:solidFill>
              <a:srgbClr val="2D6865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A0BFABD5-097C-4124-B878-6BAAF4EF0B94}"/>
              </a:ext>
            </a:extLst>
          </p:cNvPr>
          <p:cNvSpPr/>
          <p:nvPr/>
        </p:nvSpPr>
        <p:spPr>
          <a:xfrm>
            <a:off x="3111500" y="5499100"/>
            <a:ext cx="203200" cy="203200"/>
          </a:xfrm>
          <a:prstGeom prst="ellipse">
            <a:avLst/>
          </a:prstGeom>
          <a:solidFill>
            <a:srgbClr val="4FE0B3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D8BF2EAB-A28A-482E-95C6-B4B6E44D0019}"/>
              </a:ext>
            </a:extLst>
          </p:cNvPr>
          <p:cNvSpPr txBox="1"/>
          <p:nvPr/>
        </p:nvSpPr>
        <p:spPr>
          <a:xfrm>
            <a:off x="3416300" y="5346700"/>
            <a:ext cx="1117600" cy="2159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GB" sz="950" b="1">
                <a:solidFill>
                  <a:srgbClr val="F6FAF9"/>
                </a:solidFill>
                <a:latin typeface="Aptos"/>
              </a:rPr>
              <a:t>SELL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B58179C3-3571-4F1B-B32E-526FE5BCABD1}"/>
              </a:ext>
            </a:extLst>
          </p:cNvPr>
          <p:cNvSpPr txBox="1"/>
          <p:nvPr/>
        </p:nvSpPr>
        <p:spPr>
          <a:xfrm>
            <a:off x="3416300" y="5588000"/>
            <a:ext cx="1117600" cy="1651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GB" sz="800">
                <a:solidFill>
                  <a:srgbClr val="A9CED0"/>
                </a:solidFill>
                <a:latin typeface="Aptos"/>
              </a:rPr>
              <a:t>Transactions</a:t>
            </a:r>
          </a:p>
        </p:txBody>
      </p:sp>
      <p:sp>
        <p:nvSpPr>
          <p:cNvPr id="93" name="Arrow: Right 92">
            <a:extLst>
              <a:ext uri="{FF2B5EF4-FFF2-40B4-BE49-F238E27FC236}">
                <a16:creationId xmlns:a16="http://schemas.microsoft.com/office/drawing/2014/main" id="{C55CE9A5-19F6-44F4-9BA1-58AB943D11B4}"/>
              </a:ext>
            </a:extLst>
          </p:cNvPr>
          <p:cNvSpPr/>
          <p:nvPr/>
        </p:nvSpPr>
        <p:spPr>
          <a:xfrm>
            <a:off x="4724400" y="5524500"/>
            <a:ext cx="254000" cy="152400"/>
          </a:xfrm>
          <a:prstGeom prst="rightArrow">
            <a:avLst/>
          </a:prstGeom>
          <a:solidFill>
            <a:srgbClr val="4FE0B3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94" name="Rectangle: Rounded Corners 93">
            <a:extLst>
              <a:ext uri="{FF2B5EF4-FFF2-40B4-BE49-F238E27FC236}">
                <a16:creationId xmlns:a16="http://schemas.microsoft.com/office/drawing/2014/main" id="{96D11E8E-233F-4E93-8BC6-A57D371C4CE1}"/>
              </a:ext>
            </a:extLst>
          </p:cNvPr>
          <p:cNvSpPr/>
          <p:nvPr/>
        </p:nvSpPr>
        <p:spPr>
          <a:xfrm>
            <a:off x="5080000" y="5308600"/>
            <a:ext cx="1803400" cy="584200"/>
          </a:xfrm>
          <a:prstGeom prst="roundRect">
            <a:avLst/>
          </a:prstGeom>
          <a:solidFill>
            <a:srgbClr val="0C292F"/>
          </a:solidFill>
          <a:ln w="12700" cap="flat" cmpd="sng" algn="ctr">
            <a:solidFill>
              <a:srgbClr val="2D6865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95" name="Oval 94">
            <a:extLst>
              <a:ext uri="{FF2B5EF4-FFF2-40B4-BE49-F238E27FC236}">
                <a16:creationId xmlns:a16="http://schemas.microsoft.com/office/drawing/2014/main" id="{A7627FF4-8C49-4CF4-87F9-E0C6C87D4C1C}"/>
              </a:ext>
            </a:extLst>
          </p:cNvPr>
          <p:cNvSpPr/>
          <p:nvPr/>
        </p:nvSpPr>
        <p:spPr>
          <a:xfrm>
            <a:off x="5207000" y="5499100"/>
            <a:ext cx="203200" cy="203200"/>
          </a:xfrm>
          <a:prstGeom prst="ellipse">
            <a:avLst/>
          </a:prstGeom>
          <a:solidFill>
            <a:srgbClr val="D6FF3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34865B76-332E-4D1E-ADAC-0AAFB8F4FA50}"/>
              </a:ext>
            </a:extLst>
          </p:cNvPr>
          <p:cNvSpPr txBox="1"/>
          <p:nvPr/>
        </p:nvSpPr>
        <p:spPr>
          <a:xfrm>
            <a:off x="5511800" y="5346700"/>
            <a:ext cx="1270000" cy="2159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GB" sz="950" b="1">
                <a:solidFill>
                  <a:srgbClr val="F6FAF9"/>
                </a:solidFill>
                <a:latin typeface="Aptos"/>
              </a:rPr>
              <a:t>UNDERSTAND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BEB5348B-7206-4F28-AC7D-889DBF1D8DA0}"/>
              </a:ext>
            </a:extLst>
          </p:cNvPr>
          <p:cNvSpPr txBox="1"/>
          <p:nvPr/>
        </p:nvSpPr>
        <p:spPr>
          <a:xfrm>
            <a:off x="5511800" y="5588000"/>
            <a:ext cx="1270000" cy="1651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GB" sz="800">
                <a:solidFill>
                  <a:srgbClr val="A9CED0"/>
                </a:solidFill>
                <a:latin typeface="Aptos"/>
              </a:rPr>
              <a:t>Demand</a:t>
            </a:r>
          </a:p>
        </p:txBody>
      </p:sp>
      <p:sp>
        <p:nvSpPr>
          <p:cNvPr id="98" name="Arrow: Right 97">
            <a:extLst>
              <a:ext uri="{FF2B5EF4-FFF2-40B4-BE49-F238E27FC236}">
                <a16:creationId xmlns:a16="http://schemas.microsoft.com/office/drawing/2014/main" id="{0D568255-CFB2-4974-9DE8-C319C69E6341}"/>
              </a:ext>
            </a:extLst>
          </p:cNvPr>
          <p:cNvSpPr/>
          <p:nvPr/>
        </p:nvSpPr>
        <p:spPr>
          <a:xfrm>
            <a:off x="6972300" y="5524500"/>
            <a:ext cx="254000" cy="152400"/>
          </a:xfrm>
          <a:prstGeom prst="rightArrow">
            <a:avLst/>
          </a:prstGeom>
          <a:solidFill>
            <a:srgbClr val="4FE0B3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99" name="Rectangle: Rounded Corners 98">
            <a:extLst>
              <a:ext uri="{FF2B5EF4-FFF2-40B4-BE49-F238E27FC236}">
                <a16:creationId xmlns:a16="http://schemas.microsoft.com/office/drawing/2014/main" id="{22D250F2-FCC3-4AA7-91EF-E8486A7D357A}"/>
              </a:ext>
            </a:extLst>
          </p:cNvPr>
          <p:cNvSpPr/>
          <p:nvPr/>
        </p:nvSpPr>
        <p:spPr>
          <a:xfrm>
            <a:off x="7327900" y="5308600"/>
            <a:ext cx="1651000" cy="584200"/>
          </a:xfrm>
          <a:prstGeom prst="roundRect">
            <a:avLst/>
          </a:prstGeom>
          <a:solidFill>
            <a:srgbClr val="0C292F"/>
          </a:solidFill>
          <a:ln w="12700" cap="flat" cmpd="sng" algn="ctr">
            <a:solidFill>
              <a:srgbClr val="2D6865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12008DB7-DCFA-464E-8D25-D0296F211E53}"/>
              </a:ext>
            </a:extLst>
          </p:cNvPr>
          <p:cNvSpPr/>
          <p:nvPr/>
        </p:nvSpPr>
        <p:spPr>
          <a:xfrm>
            <a:off x="7454900" y="5499100"/>
            <a:ext cx="203200" cy="203200"/>
          </a:xfrm>
          <a:prstGeom prst="ellipse">
            <a:avLst/>
          </a:prstGeom>
          <a:solidFill>
            <a:srgbClr val="4FE0B3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1FA8EB2D-6598-4B17-84C0-57390BC26963}"/>
              </a:ext>
            </a:extLst>
          </p:cNvPr>
          <p:cNvSpPr txBox="1"/>
          <p:nvPr/>
        </p:nvSpPr>
        <p:spPr>
          <a:xfrm>
            <a:off x="7759700" y="5346700"/>
            <a:ext cx="1117600" cy="2159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GB" sz="950" b="1">
                <a:solidFill>
                  <a:srgbClr val="F6FAF9"/>
                </a:solidFill>
                <a:latin typeface="Aptos"/>
              </a:rPr>
              <a:t>TRACK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4B1F1DDA-12BF-4E5E-AFE1-81DC08B2674B}"/>
              </a:ext>
            </a:extLst>
          </p:cNvPr>
          <p:cNvSpPr txBox="1"/>
          <p:nvPr/>
        </p:nvSpPr>
        <p:spPr>
          <a:xfrm>
            <a:off x="7759700" y="5588000"/>
            <a:ext cx="1117600" cy="1651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GB" sz="800">
                <a:solidFill>
                  <a:srgbClr val="A9CED0"/>
                </a:solidFill>
                <a:latin typeface="Aptos"/>
              </a:rPr>
              <a:t>Stock + expiry</a:t>
            </a:r>
          </a:p>
        </p:txBody>
      </p:sp>
      <p:sp>
        <p:nvSpPr>
          <p:cNvPr id="103" name="Arrow: Right 102">
            <a:extLst>
              <a:ext uri="{FF2B5EF4-FFF2-40B4-BE49-F238E27FC236}">
                <a16:creationId xmlns:a16="http://schemas.microsoft.com/office/drawing/2014/main" id="{35F11D11-B312-4963-8A96-7289DD305580}"/>
              </a:ext>
            </a:extLst>
          </p:cNvPr>
          <p:cNvSpPr/>
          <p:nvPr/>
        </p:nvSpPr>
        <p:spPr>
          <a:xfrm>
            <a:off x="9067800" y="5524500"/>
            <a:ext cx="254000" cy="152400"/>
          </a:xfrm>
          <a:prstGeom prst="rightArrow">
            <a:avLst/>
          </a:prstGeom>
          <a:solidFill>
            <a:srgbClr val="4FE0B3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04" name="Rectangle: Rounded Corners 103">
            <a:extLst>
              <a:ext uri="{FF2B5EF4-FFF2-40B4-BE49-F238E27FC236}">
                <a16:creationId xmlns:a16="http://schemas.microsoft.com/office/drawing/2014/main" id="{85C84A9E-DCE4-4E80-B0EE-A64B92BCEC5C}"/>
              </a:ext>
            </a:extLst>
          </p:cNvPr>
          <p:cNvSpPr/>
          <p:nvPr/>
        </p:nvSpPr>
        <p:spPr>
          <a:xfrm>
            <a:off x="9423400" y="5308600"/>
            <a:ext cx="1651000" cy="584200"/>
          </a:xfrm>
          <a:prstGeom prst="roundRect">
            <a:avLst/>
          </a:prstGeom>
          <a:solidFill>
            <a:srgbClr val="0C292F"/>
          </a:solidFill>
          <a:ln w="12700" cap="flat" cmpd="sng" algn="ctr">
            <a:solidFill>
              <a:srgbClr val="2D6865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05" name="Oval 104">
            <a:extLst>
              <a:ext uri="{FF2B5EF4-FFF2-40B4-BE49-F238E27FC236}">
                <a16:creationId xmlns:a16="http://schemas.microsoft.com/office/drawing/2014/main" id="{C61E34F8-F912-4ED8-9B0C-C32790BC6D97}"/>
              </a:ext>
            </a:extLst>
          </p:cNvPr>
          <p:cNvSpPr/>
          <p:nvPr/>
        </p:nvSpPr>
        <p:spPr>
          <a:xfrm>
            <a:off x="9550400" y="5499100"/>
            <a:ext cx="203200" cy="203200"/>
          </a:xfrm>
          <a:prstGeom prst="ellipse">
            <a:avLst/>
          </a:prstGeom>
          <a:solidFill>
            <a:srgbClr val="D6FF3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782E1D89-10D9-4AE7-9263-95A0843AF80F}"/>
              </a:ext>
            </a:extLst>
          </p:cNvPr>
          <p:cNvSpPr txBox="1"/>
          <p:nvPr/>
        </p:nvSpPr>
        <p:spPr>
          <a:xfrm>
            <a:off x="9855200" y="5346700"/>
            <a:ext cx="1117600" cy="2159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GB" sz="950" b="1">
                <a:solidFill>
                  <a:srgbClr val="F6FAF9"/>
                </a:solidFill>
                <a:latin typeface="Aptos"/>
              </a:rPr>
              <a:t>PREDICT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59BB0E75-5BCD-4F3C-978E-162E008BB0BF}"/>
              </a:ext>
            </a:extLst>
          </p:cNvPr>
          <p:cNvSpPr txBox="1"/>
          <p:nvPr/>
        </p:nvSpPr>
        <p:spPr>
          <a:xfrm>
            <a:off x="9855200" y="5588000"/>
            <a:ext cx="1117600" cy="1651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GB" sz="800">
                <a:solidFill>
                  <a:srgbClr val="A9CED0"/>
                </a:solidFill>
                <a:latin typeface="Aptos"/>
              </a:rPr>
              <a:t>Reorder risk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8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Rectangle 54">
            <a:extLst>
              <a:ext uri="{FF2B5EF4-FFF2-40B4-BE49-F238E27FC236}">
                <a16:creationId xmlns:a16="http://schemas.microsoft.com/office/drawing/2014/main" id="{4B8B0E8C-3D4E-4703-A766-87F99FDAE97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1C21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F99E173-2191-4C53-9D17-F7FE4B73F512}"/>
              </a:ext>
            </a:extLst>
          </p:cNvPr>
          <p:cNvSpPr txBox="1"/>
          <p:nvPr/>
        </p:nvSpPr>
        <p:spPr>
          <a:xfrm>
            <a:off x="508000" y="254000"/>
            <a:ext cx="1397000" cy="203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GB" sz="900" b="1">
                <a:solidFill>
                  <a:srgbClr val="4FE0B3"/>
                </a:solidFill>
                <a:latin typeface="Aptos"/>
              </a:rPr>
              <a:t>DOSEDECK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5FE58AA-22BC-4309-96DF-FCB8B32973FD}"/>
              </a:ext>
            </a:extLst>
          </p:cNvPr>
          <p:cNvSpPr txBox="1"/>
          <p:nvPr/>
        </p:nvSpPr>
        <p:spPr>
          <a:xfrm>
            <a:off x="2159000" y="254000"/>
            <a:ext cx="2413000" cy="203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GB" sz="900" b="1">
                <a:solidFill>
                  <a:srgbClr val="A9CED0"/>
                </a:solidFill>
                <a:latin typeface="Aptos"/>
              </a:rPr>
              <a:t>INTRODUCING DOSEDECK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D057539-3F26-4D79-93ED-CA4AF504A8BB}"/>
              </a:ext>
            </a:extLst>
          </p:cNvPr>
          <p:cNvSpPr txBox="1"/>
          <p:nvPr/>
        </p:nvSpPr>
        <p:spPr>
          <a:xfrm>
            <a:off x="11430000" y="6413500"/>
            <a:ext cx="304800" cy="177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GB" sz="900" b="1">
                <a:solidFill>
                  <a:srgbClr val="A9CED0"/>
                </a:solidFill>
                <a:latin typeface="Aptos"/>
              </a:rPr>
              <a:t>04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4B3E3568-D6EB-4957-8E4D-62384B922D10}"/>
              </a:ext>
            </a:extLst>
          </p:cNvPr>
          <p:cNvSpPr/>
          <p:nvPr/>
        </p:nvSpPr>
        <p:spPr>
          <a:xfrm>
            <a:off x="508000" y="6375400"/>
            <a:ext cx="10185400" cy="15240"/>
          </a:xfrm>
          <a:prstGeom prst="rect">
            <a:avLst/>
          </a:prstGeom>
          <a:solidFill>
            <a:srgbClr val="315B61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8FA7761-F1D5-4C45-8F6C-6D4FE07E20B6}"/>
              </a:ext>
            </a:extLst>
          </p:cNvPr>
          <p:cNvSpPr txBox="1"/>
          <p:nvPr/>
        </p:nvSpPr>
        <p:spPr>
          <a:xfrm>
            <a:off x="635000" y="698500"/>
            <a:ext cx="10541000" cy="533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l"/>
            <a:r>
              <a:rPr lang="en-IN" sz="2500" b="1">
                <a:solidFill>
                  <a:srgbClr val="F6FAF9"/>
                </a:solidFill>
                <a:latin typeface="Aptos"/>
              </a:rPr>
              <a:t>One intelligent operating system for the pharmacy</a:t>
            </a:r>
            <a:endParaRPr lang="en-GB" sz="2500" b="1">
              <a:solidFill>
                <a:srgbClr val="F6FAF9"/>
              </a:solidFill>
              <a:latin typeface="Aptos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399C846-F69F-4BA6-AB50-1F9CC5632598}"/>
              </a:ext>
            </a:extLst>
          </p:cNvPr>
          <p:cNvSpPr txBox="1"/>
          <p:nvPr/>
        </p:nvSpPr>
        <p:spPr>
          <a:xfrm>
            <a:off x="635000" y="1270000"/>
            <a:ext cx="10414000" cy="304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l"/>
            <a:r>
              <a:rPr lang="en-IN" sz="1250">
                <a:solidFill>
                  <a:srgbClr val="A9CED0"/>
                </a:solidFill>
                <a:latin typeface="Aptos"/>
              </a:rPr>
              <a:t>Inventory, billing, AI vision and predictive intelligence—connected in one live operating view.</a:t>
            </a:r>
            <a:endParaRPr lang="en-GB" sz="1250">
              <a:solidFill>
                <a:srgbClr val="A9CED0"/>
              </a:solidFill>
              <a:latin typeface="Aptos"/>
            </a:endParaRPr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88672C8F-D842-4148-B07D-C0A3BDCA63FE}"/>
              </a:ext>
            </a:extLst>
          </p:cNvPr>
          <p:cNvSpPr/>
          <p:nvPr/>
        </p:nvSpPr>
        <p:spPr>
          <a:xfrm>
            <a:off x="635000" y="1841500"/>
            <a:ext cx="3073400" cy="1803400"/>
          </a:xfrm>
          <a:prstGeom prst="roundRect">
            <a:avLst/>
          </a:prstGeom>
          <a:solidFill>
            <a:srgbClr val="10343A"/>
          </a:solidFill>
          <a:ln w="12700" cap="flat" cmpd="sng" algn="ctr">
            <a:solidFill>
              <a:srgbClr val="28545A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E5842AC0-1C20-4CC3-8A54-2F762120E0BC}"/>
              </a:ext>
            </a:extLst>
          </p:cNvPr>
          <p:cNvSpPr/>
          <p:nvPr/>
        </p:nvSpPr>
        <p:spPr>
          <a:xfrm>
            <a:off x="838200" y="2044700"/>
            <a:ext cx="635000" cy="635000"/>
          </a:xfrm>
          <a:prstGeom prst="ellipse">
            <a:avLst/>
          </a:prstGeom>
          <a:solidFill>
            <a:srgbClr val="0B2B31"/>
          </a:solidFill>
          <a:ln w="12700" cap="flat" cmpd="sng" algn="ctr">
            <a:solidFill>
              <a:srgbClr val="4FE0B3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64" name="Rectangle: Rounded Corners 63">
            <a:extLst>
              <a:ext uri="{FF2B5EF4-FFF2-40B4-BE49-F238E27FC236}">
                <a16:creationId xmlns:a16="http://schemas.microsoft.com/office/drawing/2014/main" id="{71062E41-CE9F-446C-B1A8-4D03E1151888}"/>
              </a:ext>
            </a:extLst>
          </p:cNvPr>
          <p:cNvSpPr/>
          <p:nvPr/>
        </p:nvSpPr>
        <p:spPr>
          <a:xfrm>
            <a:off x="850900" y="2247900"/>
            <a:ext cx="203200" cy="165100"/>
          </a:xfrm>
          <a:prstGeom prst="roundRect">
            <a:avLst/>
          </a:prstGeom>
          <a:solidFill>
            <a:srgbClr val="0A282E"/>
          </a:solidFill>
          <a:ln w="12700" cap="flat" cmpd="sng" algn="ctr">
            <a:solidFill>
              <a:srgbClr val="4FE0B3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FBF91A2C-92E9-40E4-A1E2-0B1D5344A16C}"/>
              </a:ext>
            </a:extLst>
          </p:cNvPr>
          <p:cNvSpPr/>
          <p:nvPr/>
        </p:nvSpPr>
        <p:spPr>
          <a:xfrm>
            <a:off x="1066800" y="2159000"/>
            <a:ext cx="203200" cy="254000"/>
          </a:xfrm>
          <a:prstGeom prst="roundRect">
            <a:avLst/>
          </a:prstGeom>
          <a:solidFill>
            <a:srgbClr val="0A282E"/>
          </a:solidFill>
          <a:ln w="12700" cap="flat" cmpd="sng" algn="ctr">
            <a:solidFill>
              <a:srgbClr val="4FE0B3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2E49799C-E78B-48C6-9EFC-B8A02776F453}"/>
              </a:ext>
            </a:extLst>
          </p:cNvPr>
          <p:cNvSpPr/>
          <p:nvPr/>
        </p:nvSpPr>
        <p:spPr>
          <a:xfrm>
            <a:off x="1282700" y="2222500"/>
            <a:ext cx="203200" cy="190500"/>
          </a:xfrm>
          <a:prstGeom prst="roundRect">
            <a:avLst/>
          </a:prstGeom>
          <a:solidFill>
            <a:srgbClr val="0A282E"/>
          </a:solidFill>
          <a:ln w="12700" cap="flat" cmpd="sng" algn="ctr">
            <a:solidFill>
              <a:srgbClr val="4FE0B3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9E55BFAC-2B9A-4C4B-B63A-6012057B0BF4}"/>
              </a:ext>
            </a:extLst>
          </p:cNvPr>
          <p:cNvSpPr/>
          <p:nvPr/>
        </p:nvSpPr>
        <p:spPr>
          <a:xfrm>
            <a:off x="825500" y="2451100"/>
            <a:ext cx="698500" cy="25400"/>
          </a:xfrm>
          <a:prstGeom prst="rect">
            <a:avLst/>
          </a:prstGeom>
          <a:solidFill>
            <a:srgbClr val="4FE0B3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C9293188-C0D7-4E8B-B37A-E627F397A845}"/>
              </a:ext>
            </a:extLst>
          </p:cNvPr>
          <p:cNvSpPr txBox="1"/>
          <p:nvPr/>
        </p:nvSpPr>
        <p:spPr>
          <a:xfrm>
            <a:off x="1625600" y="2032000"/>
            <a:ext cx="1854200" cy="355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l"/>
            <a:r>
              <a:rPr lang="en-GB" sz="1400" b="1">
                <a:solidFill>
                  <a:srgbClr val="4FE0B3"/>
                </a:solidFill>
                <a:latin typeface="Aptos"/>
              </a:rPr>
              <a:t>Inventory</a:t>
            </a:r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48913E89-85F3-4C34-BE4C-5BC77CC28C5D}"/>
              </a:ext>
            </a:extLst>
          </p:cNvPr>
          <p:cNvSpPr/>
          <p:nvPr/>
        </p:nvSpPr>
        <p:spPr>
          <a:xfrm>
            <a:off x="863600" y="2857500"/>
            <a:ext cx="63500" cy="63500"/>
          </a:xfrm>
          <a:prstGeom prst="ellipse">
            <a:avLst/>
          </a:prstGeom>
          <a:solidFill>
            <a:srgbClr val="4FE0B3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1AB1AFEB-6D97-49AA-8171-3AC8BA185838}"/>
              </a:ext>
            </a:extLst>
          </p:cNvPr>
          <p:cNvSpPr txBox="1"/>
          <p:nvPr/>
        </p:nvSpPr>
        <p:spPr>
          <a:xfrm>
            <a:off x="1016000" y="2781300"/>
            <a:ext cx="2489200" cy="203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GB" sz="920">
                <a:solidFill>
                  <a:srgbClr val="A9CED0"/>
                </a:solidFill>
                <a:latin typeface="Aptos"/>
              </a:rPr>
              <a:t>Stock in / out</a:t>
            </a:r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67155368-ED65-4EE0-BF72-2D70687840DE}"/>
              </a:ext>
            </a:extLst>
          </p:cNvPr>
          <p:cNvSpPr/>
          <p:nvPr/>
        </p:nvSpPr>
        <p:spPr>
          <a:xfrm>
            <a:off x="863600" y="3073400"/>
            <a:ext cx="63500" cy="63500"/>
          </a:xfrm>
          <a:prstGeom prst="ellipse">
            <a:avLst/>
          </a:prstGeom>
          <a:solidFill>
            <a:srgbClr val="4FE0B3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8AAD0E9E-D204-42AE-85F8-48E0B53732E0}"/>
              </a:ext>
            </a:extLst>
          </p:cNvPr>
          <p:cNvSpPr txBox="1"/>
          <p:nvPr/>
        </p:nvSpPr>
        <p:spPr>
          <a:xfrm>
            <a:off x="1016000" y="2997200"/>
            <a:ext cx="2489200" cy="203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GB" sz="920">
                <a:solidFill>
                  <a:srgbClr val="A9CED0"/>
                </a:solidFill>
                <a:latin typeface="Aptos"/>
              </a:rPr>
              <a:t>Batch tracking</a:t>
            </a:r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3010B48B-C527-42E3-8D8D-53F46E2E46CA}"/>
              </a:ext>
            </a:extLst>
          </p:cNvPr>
          <p:cNvSpPr/>
          <p:nvPr/>
        </p:nvSpPr>
        <p:spPr>
          <a:xfrm>
            <a:off x="863600" y="3289300"/>
            <a:ext cx="63500" cy="63500"/>
          </a:xfrm>
          <a:prstGeom prst="ellipse">
            <a:avLst/>
          </a:prstGeom>
          <a:solidFill>
            <a:srgbClr val="4FE0B3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C3D0042E-F21F-4BF9-BA37-A145F28BAA2A}"/>
              </a:ext>
            </a:extLst>
          </p:cNvPr>
          <p:cNvSpPr txBox="1"/>
          <p:nvPr/>
        </p:nvSpPr>
        <p:spPr>
          <a:xfrm>
            <a:off x="1016000" y="3213100"/>
            <a:ext cx="2489200" cy="203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GB" sz="920">
                <a:solidFill>
                  <a:srgbClr val="A9CED0"/>
                </a:solidFill>
                <a:latin typeface="Aptos"/>
              </a:rPr>
              <a:t>Stock reconciliation</a:t>
            </a:r>
          </a:p>
        </p:txBody>
      </p:sp>
      <p:sp>
        <p:nvSpPr>
          <p:cNvPr id="75" name="Rectangle: Rounded Corners 74">
            <a:extLst>
              <a:ext uri="{FF2B5EF4-FFF2-40B4-BE49-F238E27FC236}">
                <a16:creationId xmlns:a16="http://schemas.microsoft.com/office/drawing/2014/main" id="{539D4E60-3DA6-4D06-99AB-6842B6328287}"/>
              </a:ext>
            </a:extLst>
          </p:cNvPr>
          <p:cNvSpPr/>
          <p:nvPr/>
        </p:nvSpPr>
        <p:spPr>
          <a:xfrm>
            <a:off x="635000" y="3924300"/>
            <a:ext cx="3073400" cy="1803400"/>
          </a:xfrm>
          <a:prstGeom prst="roundRect">
            <a:avLst/>
          </a:prstGeom>
          <a:solidFill>
            <a:srgbClr val="10343A"/>
          </a:solidFill>
          <a:ln w="12700" cap="flat" cmpd="sng" algn="ctr">
            <a:solidFill>
              <a:srgbClr val="28545A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7857F525-57EC-4DB1-BFA4-F3160B58472F}"/>
              </a:ext>
            </a:extLst>
          </p:cNvPr>
          <p:cNvSpPr/>
          <p:nvPr/>
        </p:nvSpPr>
        <p:spPr>
          <a:xfrm>
            <a:off x="838200" y="4127500"/>
            <a:ext cx="635000" cy="635000"/>
          </a:xfrm>
          <a:prstGeom prst="ellipse">
            <a:avLst/>
          </a:prstGeom>
          <a:solidFill>
            <a:srgbClr val="0B2B31"/>
          </a:solidFill>
          <a:ln w="12700" cap="flat" cmpd="sng" algn="ctr">
            <a:solidFill>
              <a:srgbClr val="5EC8E5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77" name="Rectangle: Rounded Corners 76">
            <a:extLst>
              <a:ext uri="{FF2B5EF4-FFF2-40B4-BE49-F238E27FC236}">
                <a16:creationId xmlns:a16="http://schemas.microsoft.com/office/drawing/2014/main" id="{CB4D3944-9EC0-4E03-B612-152C8E408CD1}"/>
              </a:ext>
            </a:extLst>
          </p:cNvPr>
          <p:cNvSpPr/>
          <p:nvPr/>
        </p:nvSpPr>
        <p:spPr>
          <a:xfrm>
            <a:off x="927100" y="4178300"/>
            <a:ext cx="482600" cy="469900"/>
          </a:xfrm>
          <a:prstGeom prst="roundRect">
            <a:avLst/>
          </a:prstGeom>
          <a:solidFill>
            <a:srgbClr val="0A282E"/>
          </a:solidFill>
          <a:ln w="12700" cap="flat" cmpd="sng" algn="ctr">
            <a:solidFill>
              <a:srgbClr val="5EC8E5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9A025CE1-D45D-43FB-8FC3-08E77F2902D3}"/>
              </a:ext>
            </a:extLst>
          </p:cNvPr>
          <p:cNvSpPr/>
          <p:nvPr/>
        </p:nvSpPr>
        <p:spPr>
          <a:xfrm>
            <a:off x="1028700" y="4305300"/>
            <a:ext cx="279400" cy="25400"/>
          </a:xfrm>
          <a:prstGeom prst="rect">
            <a:avLst/>
          </a:prstGeom>
          <a:solidFill>
            <a:srgbClr val="5EC8E5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3A7B2F84-322A-42FF-B8AE-A1A47ECD9071}"/>
              </a:ext>
            </a:extLst>
          </p:cNvPr>
          <p:cNvSpPr/>
          <p:nvPr/>
        </p:nvSpPr>
        <p:spPr>
          <a:xfrm>
            <a:off x="1028700" y="4394200"/>
            <a:ext cx="228600" cy="25400"/>
          </a:xfrm>
          <a:prstGeom prst="rect">
            <a:avLst/>
          </a:prstGeom>
          <a:solidFill>
            <a:srgbClr val="5EC8E5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A1C240F2-0930-42CD-9135-26058967A049}"/>
              </a:ext>
            </a:extLst>
          </p:cNvPr>
          <p:cNvSpPr/>
          <p:nvPr/>
        </p:nvSpPr>
        <p:spPr>
          <a:xfrm>
            <a:off x="1028700" y="4483100"/>
            <a:ext cx="304800" cy="25400"/>
          </a:xfrm>
          <a:prstGeom prst="rect">
            <a:avLst/>
          </a:prstGeom>
          <a:solidFill>
            <a:srgbClr val="5EC8E5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02763F1D-9771-4EA2-89E8-15B2206EB5CA}"/>
              </a:ext>
            </a:extLst>
          </p:cNvPr>
          <p:cNvSpPr txBox="1"/>
          <p:nvPr/>
        </p:nvSpPr>
        <p:spPr>
          <a:xfrm>
            <a:off x="1625600" y="4114800"/>
            <a:ext cx="1854200" cy="355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l"/>
            <a:r>
              <a:rPr lang="en-GB" sz="1400" b="1">
                <a:solidFill>
                  <a:srgbClr val="5EC8E5"/>
                </a:solidFill>
                <a:latin typeface="Aptos"/>
              </a:rPr>
              <a:t>Billing</a:t>
            </a:r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FDB0F85D-C07B-4E68-9E0F-1E8E2F9604ED}"/>
              </a:ext>
            </a:extLst>
          </p:cNvPr>
          <p:cNvSpPr/>
          <p:nvPr/>
        </p:nvSpPr>
        <p:spPr>
          <a:xfrm>
            <a:off x="863600" y="4940300"/>
            <a:ext cx="63500" cy="63500"/>
          </a:xfrm>
          <a:prstGeom prst="ellipse">
            <a:avLst/>
          </a:prstGeom>
          <a:solidFill>
            <a:srgbClr val="4FE0B3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89C8CEAE-D657-46E7-9E3B-EC157201E9BE}"/>
              </a:ext>
            </a:extLst>
          </p:cNvPr>
          <p:cNvSpPr txBox="1"/>
          <p:nvPr/>
        </p:nvSpPr>
        <p:spPr>
          <a:xfrm>
            <a:off x="1016000" y="4864100"/>
            <a:ext cx="2489200" cy="203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GB" sz="920">
                <a:solidFill>
                  <a:srgbClr val="A9CED0"/>
                </a:solidFill>
                <a:latin typeface="Aptos"/>
              </a:rPr>
              <a:t>Fast checkout</a:t>
            </a:r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5D1D95F5-444B-4F57-B7B0-8C23213A299D}"/>
              </a:ext>
            </a:extLst>
          </p:cNvPr>
          <p:cNvSpPr/>
          <p:nvPr/>
        </p:nvSpPr>
        <p:spPr>
          <a:xfrm>
            <a:off x="863600" y="5156200"/>
            <a:ext cx="63500" cy="63500"/>
          </a:xfrm>
          <a:prstGeom prst="ellipse">
            <a:avLst/>
          </a:prstGeom>
          <a:solidFill>
            <a:srgbClr val="4FE0B3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A1463FD8-1792-4AF0-A66E-4015A77F22A2}"/>
              </a:ext>
            </a:extLst>
          </p:cNvPr>
          <p:cNvSpPr txBox="1"/>
          <p:nvPr/>
        </p:nvSpPr>
        <p:spPr>
          <a:xfrm>
            <a:off x="1016000" y="5080000"/>
            <a:ext cx="2489200" cy="203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GB" sz="920">
                <a:solidFill>
                  <a:srgbClr val="A9CED0"/>
                </a:solidFill>
                <a:latin typeface="Aptos"/>
              </a:rPr>
              <a:t>Automatic inventory deduction</a:t>
            </a:r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6ABA5EC3-7BC5-4146-9C89-4EBE55CBAF77}"/>
              </a:ext>
            </a:extLst>
          </p:cNvPr>
          <p:cNvSpPr/>
          <p:nvPr/>
        </p:nvSpPr>
        <p:spPr>
          <a:xfrm>
            <a:off x="863600" y="5372100"/>
            <a:ext cx="63500" cy="63500"/>
          </a:xfrm>
          <a:prstGeom prst="ellipse">
            <a:avLst/>
          </a:prstGeom>
          <a:solidFill>
            <a:srgbClr val="4FE0B3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DF769D0C-F3D4-443C-8A8B-668947D8474E}"/>
              </a:ext>
            </a:extLst>
          </p:cNvPr>
          <p:cNvSpPr txBox="1"/>
          <p:nvPr/>
        </p:nvSpPr>
        <p:spPr>
          <a:xfrm>
            <a:off x="1016000" y="5295900"/>
            <a:ext cx="2489200" cy="203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GB" sz="920">
                <a:solidFill>
                  <a:srgbClr val="A9CED0"/>
                </a:solidFill>
                <a:latin typeface="Aptos"/>
              </a:rPr>
              <a:t>Digital invoices</a:t>
            </a:r>
          </a:p>
        </p:txBody>
      </p:sp>
      <p:sp>
        <p:nvSpPr>
          <p:cNvPr id="88" name="Rectangle: Rounded Corners 87">
            <a:extLst>
              <a:ext uri="{FF2B5EF4-FFF2-40B4-BE49-F238E27FC236}">
                <a16:creationId xmlns:a16="http://schemas.microsoft.com/office/drawing/2014/main" id="{E4A436FB-F6EF-4A04-85B9-12CF0CA16A45}"/>
              </a:ext>
            </a:extLst>
          </p:cNvPr>
          <p:cNvSpPr/>
          <p:nvPr/>
        </p:nvSpPr>
        <p:spPr>
          <a:xfrm>
            <a:off x="8483600" y="1841500"/>
            <a:ext cx="3073400" cy="1803400"/>
          </a:xfrm>
          <a:prstGeom prst="roundRect">
            <a:avLst/>
          </a:prstGeom>
          <a:solidFill>
            <a:srgbClr val="10343A"/>
          </a:solidFill>
          <a:ln w="12700" cap="flat" cmpd="sng" algn="ctr">
            <a:solidFill>
              <a:srgbClr val="28545A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A89A188E-1E0B-49AA-A992-98BB0A975043}"/>
              </a:ext>
            </a:extLst>
          </p:cNvPr>
          <p:cNvSpPr/>
          <p:nvPr/>
        </p:nvSpPr>
        <p:spPr>
          <a:xfrm>
            <a:off x="8686800" y="2044700"/>
            <a:ext cx="635000" cy="635000"/>
          </a:xfrm>
          <a:prstGeom prst="ellipse">
            <a:avLst/>
          </a:prstGeom>
          <a:solidFill>
            <a:srgbClr val="0B2B31"/>
          </a:solidFill>
          <a:ln w="12700" cap="flat" cmpd="sng" algn="ctr">
            <a:solidFill>
              <a:srgbClr val="FF735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3A8EF83D-2BA5-4A3E-BAAD-DB48429FAEA9}"/>
              </a:ext>
            </a:extLst>
          </p:cNvPr>
          <p:cNvSpPr/>
          <p:nvPr/>
        </p:nvSpPr>
        <p:spPr>
          <a:xfrm>
            <a:off x="8724900" y="2108200"/>
            <a:ext cx="177800" cy="25400"/>
          </a:xfrm>
          <a:prstGeom prst="rect">
            <a:avLst/>
          </a:prstGeom>
          <a:solidFill>
            <a:srgbClr val="FF735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3282D239-0C63-460E-97ED-1E9AC5D890E7}"/>
              </a:ext>
            </a:extLst>
          </p:cNvPr>
          <p:cNvSpPr/>
          <p:nvPr/>
        </p:nvSpPr>
        <p:spPr>
          <a:xfrm>
            <a:off x="8724900" y="2108200"/>
            <a:ext cx="25400" cy="177800"/>
          </a:xfrm>
          <a:prstGeom prst="rect">
            <a:avLst/>
          </a:prstGeom>
          <a:solidFill>
            <a:srgbClr val="FF735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45BCD82B-6244-4150-AD44-164CD782681F}"/>
              </a:ext>
            </a:extLst>
          </p:cNvPr>
          <p:cNvSpPr/>
          <p:nvPr/>
        </p:nvSpPr>
        <p:spPr>
          <a:xfrm>
            <a:off x="9156700" y="2108200"/>
            <a:ext cx="177800" cy="25400"/>
          </a:xfrm>
          <a:prstGeom prst="rect">
            <a:avLst/>
          </a:prstGeom>
          <a:solidFill>
            <a:srgbClr val="FF735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B75B82E0-A159-4CCE-8283-DFAF8E5D5113}"/>
              </a:ext>
            </a:extLst>
          </p:cNvPr>
          <p:cNvSpPr/>
          <p:nvPr/>
        </p:nvSpPr>
        <p:spPr>
          <a:xfrm>
            <a:off x="9309100" y="2108200"/>
            <a:ext cx="25400" cy="177800"/>
          </a:xfrm>
          <a:prstGeom prst="rect">
            <a:avLst/>
          </a:prstGeom>
          <a:solidFill>
            <a:srgbClr val="FF735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7B8E39AD-C7C7-484F-83EA-07699759A547}"/>
              </a:ext>
            </a:extLst>
          </p:cNvPr>
          <p:cNvSpPr/>
          <p:nvPr/>
        </p:nvSpPr>
        <p:spPr>
          <a:xfrm>
            <a:off x="8724900" y="2514600"/>
            <a:ext cx="177800" cy="25400"/>
          </a:xfrm>
          <a:prstGeom prst="rect">
            <a:avLst/>
          </a:prstGeom>
          <a:solidFill>
            <a:srgbClr val="FF735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8B0AD721-C894-4E74-AAF7-2B518C52FC56}"/>
              </a:ext>
            </a:extLst>
          </p:cNvPr>
          <p:cNvSpPr/>
          <p:nvPr/>
        </p:nvSpPr>
        <p:spPr>
          <a:xfrm>
            <a:off x="8724900" y="2362200"/>
            <a:ext cx="25400" cy="177800"/>
          </a:xfrm>
          <a:prstGeom prst="rect">
            <a:avLst/>
          </a:prstGeom>
          <a:solidFill>
            <a:srgbClr val="FF735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59858D59-E391-4924-AE49-942A4D946D0F}"/>
              </a:ext>
            </a:extLst>
          </p:cNvPr>
          <p:cNvSpPr/>
          <p:nvPr/>
        </p:nvSpPr>
        <p:spPr>
          <a:xfrm>
            <a:off x="9156700" y="2514600"/>
            <a:ext cx="177800" cy="25400"/>
          </a:xfrm>
          <a:prstGeom prst="rect">
            <a:avLst/>
          </a:prstGeom>
          <a:solidFill>
            <a:srgbClr val="FF735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AF54AD97-2E49-4C50-9293-7B0D32BDA6B6}"/>
              </a:ext>
            </a:extLst>
          </p:cNvPr>
          <p:cNvSpPr/>
          <p:nvPr/>
        </p:nvSpPr>
        <p:spPr>
          <a:xfrm>
            <a:off x="9309100" y="2362200"/>
            <a:ext cx="25400" cy="177800"/>
          </a:xfrm>
          <a:prstGeom prst="rect">
            <a:avLst/>
          </a:prstGeom>
          <a:solidFill>
            <a:srgbClr val="FF735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63738AAD-9F10-4611-A68C-AE30016BEF00}"/>
              </a:ext>
            </a:extLst>
          </p:cNvPr>
          <p:cNvSpPr/>
          <p:nvPr/>
        </p:nvSpPr>
        <p:spPr>
          <a:xfrm>
            <a:off x="8851900" y="2311400"/>
            <a:ext cx="406400" cy="25400"/>
          </a:xfrm>
          <a:prstGeom prst="rect">
            <a:avLst/>
          </a:prstGeom>
          <a:solidFill>
            <a:srgbClr val="FF735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B0689BCD-8877-4A3E-B56A-FDFECFB70EC1}"/>
              </a:ext>
            </a:extLst>
          </p:cNvPr>
          <p:cNvSpPr txBox="1"/>
          <p:nvPr/>
        </p:nvSpPr>
        <p:spPr>
          <a:xfrm>
            <a:off x="9474200" y="2032000"/>
            <a:ext cx="1854200" cy="355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l"/>
            <a:r>
              <a:rPr lang="en-GB" sz="1400" b="1">
                <a:solidFill>
                  <a:srgbClr val="FF735F"/>
                </a:solidFill>
                <a:latin typeface="Aptos"/>
              </a:rPr>
              <a:t>AI Vision</a:t>
            </a:r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9CCE820F-70C4-4F12-B59B-567F855D2871}"/>
              </a:ext>
            </a:extLst>
          </p:cNvPr>
          <p:cNvSpPr/>
          <p:nvPr/>
        </p:nvSpPr>
        <p:spPr>
          <a:xfrm>
            <a:off x="8712200" y="2857500"/>
            <a:ext cx="63500" cy="63500"/>
          </a:xfrm>
          <a:prstGeom prst="ellipse">
            <a:avLst/>
          </a:prstGeom>
          <a:solidFill>
            <a:srgbClr val="4FE0B3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CC13500F-EE0B-47DF-91AD-3E7A717FA2D4}"/>
              </a:ext>
            </a:extLst>
          </p:cNvPr>
          <p:cNvSpPr txBox="1"/>
          <p:nvPr/>
        </p:nvSpPr>
        <p:spPr>
          <a:xfrm>
            <a:off x="8864600" y="2781300"/>
            <a:ext cx="2489200" cy="203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GB" sz="920">
                <a:solidFill>
                  <a:srgbClr val="A9CED0"/>
                </a:solidFill>
                <a:latin typeface="Aptos"/>
              </a:rPr>
              <a:t>Medicine recognition</a:t>
            </a:r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E823D077-FD0B-4DC5-9CCC-92FED8F6B629}"/>
              </a:ext>
            </a:extLst>
          </p:cNvPr>
          <p:cNvSpPr/>
          <p:nvPr/>
        </p:nvSpPr>
        <p:spPr>
          <a:xfrm>
            <a:off x="8712200" y="3073400"/>
            <a:ext cx="63500" cy="63500"/>
          </a:xfrm>
          <a:prstGeom prst="ellipse">
            <a:avLst/>
          </a:prstGeom>
          <a:solidFill>
            <a:srgbClr val="4FE0B3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B30F7BE3-330F-411A-944C-F1B3565FE7D4}"/>
              </a:ext>
            </a:extLst>
          </p:cNvPr>
          <p:cNvSpPr txBox="1"/>
          <p:nvPr/>
        </p:nvSpPr>
        <p:spPr>
          <a:xfrm>
            <a:off x="8864600" y="2997200"/>
            <a:ext cx="2489200" cy="203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GB" sz="920">
                <a:solidFill>
                  <a:srgbClr val="A9CED0"/>
                </a:solidFill>
                <a:latin typeface="Aptos"/>
              </a:rPr>
              <a:t>Barcode scanning</a:t>
            </a:r>
          </a:p>
        </p:txBody>
      </p:sp>
      <p:sp>
        <p:nvSpPr>
          <p:cNvPr id="104" name="Oval 103">
            <a:extLst>
              <a:ext uri="{FF2B5EF4-FFF2-40B4-BE49-F238E27FC236}">
                <a16:creationId xmlns:a16="http://schemas.microsoft.com/office/drawing/2014/main" id="{D4B0C914-DE9B-4760-A03C-5C02454FD4C9}"/>
              </a:ext>
            </a:extLst>
          </p:cNvPr>
          <p:cNvSpPr/>
          <p:nvPr/>
        </p:nvSpPr>
        <p:spPr>
          <a:xfrm>
            <a:off x="8712200" y="3289300"/>
            <a:ext cx="63500" cy="63500"/>
          </a:xfrm>
          <a:prstGeom prst="ellipse">
            <a:avLst/>
          </a:prstGeom>
          <a:solidFill>
            <a:srgbClr val="4FE0B3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9BDE541E-7838-48C3-96DE-6B3636DEA4B2}"/>
              </a:ext>
            </a:extLst>
          </p:cNvPr>
          <p:cNvSpPr txBox="1"/>
          <p:nvPr/>
        </p:nvSpPr>
        <p:spPr>
          <a:xfrm>
            <a:off x="8864600" y="3213100"/>
            <a:ext cx="2489200" cy="203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GB" sz="920">
                <a:solidFill>
                  <a:srgbClr val="A9CED0"/>
                </a:solidFill>
                <a:latin typeface="Aptos"/>
              </a:rPr>
              <a:t>Invoice OCR</a:t>
            </a:r>
          </a:p>
        </p:txBody>
      </p:sp>
      <p:sp>
        <p:nvSpPr>
          <p:cNvPr id="106" name="Oval 105">
            <a:extLst>
              <a:ext uri="{FF2B5EF4-FFF2-40B4-BE49-F238E27FC236}">
                <a16:creationId xmlns:a16="http://schemas.microsoft.com/office/drawing/2014/main" id="{F3303E9D-A866-4A43-9337-03E60252D3EC}"/>
              </a:ext>
            </a:extLst>
          </p:cNvPr>
          <p:cNvSpPr/>
          <p:nvPr/>
        </p:nvSpPr>
        <p:spPr>
          <a:xfrm>
            <a:off x="8712200" y="3505200"/>
            <a:ext cx="63500" cy="63500"/>
          </a:xfrm>
          <a:prstGeom prst="ellipse">
            <a:avLst/>
          </a:prstGeom>
          <a:solidFill>
            <a:srgbClr val="4FE0B3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0E08BEBA-18CC-4E5D-9A5D-AFD4CA6D5E83}"/>
              </a:ext>
            </a:extLst>
          </p:cNvPr>
          <p:cNvSpPr txBox="1"/>
          <p:nvPr/>
        </p:nvSpPr>
        <p:spPr>
          <a:xfrm>
            <a:off x="8864600" y="3429000"/>
            <a:ext cx="2489200" cy="203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GB" sz="920">
                <a:solidFill>
                  <a:srgbClr val="A9CED0"/>
                </a:solidFill>
                <a:latin typeface="Aptos"/>
              </a:rPr>
              <a:t>Batch / expiry extraction</a:t>
            </a:r>
          </a:p>
        </p:txBody>
      </p:sp>
      <p:sp>
        <p:nvSpPr>
          <p:cNvPr id="108" name="Rectangle: Rounded Corners 107">
            <a:extLst>
              <a:ext uri="{FF2B5EF4-FFF2-40B4-BE49-F238E27FC236}">
                <a16:creationId xmlns:a16="http://schemas.microsoft.com/office/drawing/2014/main" id="{74BC2896-858E-47F9-8F18-1D7421DDD211}"/>
              </a:ext>
            </a:extLst>
          </p:cNvPr>
          <p:cNvSpPr/>
          <p:nvPr/>
        </p:nvSpPr>
        <p:spPr>
          <a:xfrm>
            <a:off x="8483600" y="3924300"/>
            <a:ext cx="3073400" cy="1803400"/>
          </a:xfrm>
          <a:prstGeom prst="roundRect">
            <a:avLst/>
          </a:prstGeom>
          <a:solidFill>
            <a:srgbClr val="10343A"/>
          </a:solidFill>
          <a:ln w="12700" cap="flat" cmpd="sng" algn="ctr">
            <a:solidFill>
              <a:srgbClr val="28545A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09" name="Oval 108">
            <a:extLst>
              <a:ext uri="{FF2B5EF4-FFF2-40B4-BE49-F238E27FC236}">
                <a16:creationId xmlns:a16="http://schemas.microsoft.com/office/drawing/2014/main" id="{DC517281-B2D3-47ED-B43F-570270E038D7}"/>
              </a:ext>
            </a:extLst>
          </p:cNvPr>
          <p:cNvSpPr/>
          <p:nvPr/>
        </p:nvSpPr>
        <p:spPr>
          <a:xfrm>
            <a:off x="8686800" y="4127500"/>
            <a:ext cx="635000" cy="635000"/>
          </a:xfrm>
          <a:prstGeom prst="ellipse">
            <a:avLst/>
          </a:prstGeom>
          <a:solidFill>
            <a:srgbClr val="0B2B31"/>
          </a:solidFill>
          <a:ln w="12700" cap="flat" cmpd="sng" algn="ctr">
            <a:solidFill>
              <a:srgbClr val="D6FF3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10" name="Oval 109">
            <a:extLst>
              <a:ext uri="{FF2B5EF4-FFF2-40B4-BE49-F238E27FC236}">
                <a16:creationId xmlns:a16="http://schemas.microsoft.com/office/drawing/2014/main" id="{F803AD7D-C42D-46B0-8CD0-A45C0CE6DB02}"/>
              </a:ext>
            </a:extLst>
          </p:cNvPr>
          <p:cNvSpPr/>
          <p:nvPr/>
        </p:nvSpPr>
        <p:spPr>
          <a:xfrm>
            <a:off x="8890000" y="4203700"/>
            <a:ext cx="279400" cy="279400"/>
          </a:xfrm>
          <a:prstGeom prst="ellipse">
            <a:avLst/>
          </a:prstGeom>
          <a:solidFill>
            <a:srgbClr val="0A282E"/>
          </a:solidFill>
          <a:ln w="12700" cap="flat" cmpd="sng" algn="ctr">
            <a:solidFill>
              <a:srgbClr val="D6FF3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4B86630A-AE23-4150-A7F3-EF1B9D39BC93}"/>
              </a:ext>
            </a:extLst>
          </p:cNvPr>
          <p:cNvSpPr/>
          <p:nvPr/>
        </p:nvSpPr>
        <p:spPr>
          <a:xfrm>
            <a:off x="9029700" y="4483100"/>
            <a:ext cx="25400" cy="152400"/>
          </a:xfrm>
          <a:prstGeom prst="rect">
            <a:avLst/>
          </a:prstGeom>
          <a:solidFill>
            <a:srgbClr val="D6FF3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039C6647-0530-4BC8-9225-45F112215853}"/>
              </a:ext>
            </a:extLst>
          </p:cNvPr>
          <p:cNvSpPr/>
          <p:nvPr/>
        </p:nvSpPr>
        <p:spPr>
          <a:xfrm>
            <a:off x="8890000" y="4622800"/>
            <a:ext cx="304800" cy="25400"/>
          </a:xfrm>
          <a:prstGeom prst="rect">
            <a:avLst/>
          </a:prstGeom>
          <a:solidFill>
            <a:srgbClr val="D6FF3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13" name="Oval 112">
            <a:extLst>
              <a:ext uri="{FF2B5EF4-FFF2-40B4-BE49-F238E27FC236}">
                <a16:creationId xmlns:a16="http://schemas.microsoft.com/office/drawing/2014/main" id="{4ED029DF-2BF0-4E56-A5E1-67786E63D70F}"/>
              </a:ext>
            </a:extLst>
          </p:cNvPr>
          <p:cNvSpPr/>
          <p:nvPr/>
        </p:nvSpPr>
        <p:spPr>
          <a:xfrm>
            <a:off x="8737600" y="4343400"/>
            <a:ext cx="101600" cy="101600"/>
          </a:xfrm>
          <a:prstGeom prst="ellipse">
            <a:avLst/>
          </a:prstGeom>
          <a:solidFill>
            <a:srgbClr val="D6FF3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14" name="Oval 113">
            <a:extLst>
              <a:ext uri="{FF2B5EF4-FFF2-40B4-BE49-F238E27FC236}">
                <a16:creationId xmlns:a16="http://schemas.microsoft.com/office/drawing/2014/main" id="{12BE28CD-F427-4176-9FBC-7992189B7FB6}"/>
              </a:ext>
            </a:extLst>
          </p:cNvPr>
          <p:cNvSpPr/>
          <p:nvPr/>
        </p:nvSpPr>
        <p:spPr>
          <a:xfrm>
            <a:off x="9220200" y="4343400"/>
            <a:ext cx="101600" cy="101600"/>
          </a:xfrm>
          <a:prstGeom prst="ellipse">
            <a:avLst/>
          </a:prstGeom>
          <a:solidFill>
            <a:srgbClr val="D6FF3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15" name="Oval 114">
            <a:extLst>
              <a:ext uri="{FF2B5EF4-FFF2-40B4-BE49-F238E27FC236}">
                <a16:creationId xmlns:a16="http://schemas.microsoft.com/office/drawing/2014/main" id="{7ADADC03-BA15-45EB-8B51-66108A7EF75D}"/>
              </a:ext>
            </a:extLst>
          </p:cNvPr>
          <p:cNvSpPr/>
          <p:nvPr/>
        </p:nvSpPr>
        <p:spPr>
          <a:xfrm>
            <a:off x="8978900" y="4127500"/>
            <a:ext cx="101600" cy="101600"/>
          </a:xfrm>
          <a:prstGeom prst="ellipse">
            <a:avLst/>
          </a:prstGeom>
          <a:solidFill>
            <a:srgbClr val="D6FF3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FBB7132B-B1FD-4316-97D0-B4759E737290}"/>
              </a:ext>
            </a:extLst>
          </p:cNvPr>
          <p:cNvSpPr txBox="1"/>
          <p:nvPr/>
        </p:nvSpPr>
        <p:spPr>
          <a:xfrm>
            <a:off x="9474200" y="4114800"/>
            <a:ext cx="1854200" cy="355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l"/>
            <a:r>
              <a:rPr lang="en-GB" sz="1400" b="1">
                <a:solidFill>
                  <a:srgbClr val="D6FF3F"/>
                </a:solidFill>
                <a:latin typeface="Aptos"/>
              </a:rPr>
              <a:t>Intelligence</a:t>
            </a:r>
          </a:p>
        </p:txBody>
      </p:sp>
      <p:sp>
        <p:nvSpPr>
          <p:cNvPr id="117" name="Oval 116">
            <a:extLst>
              <a:ext uri="{FF2B5EF4-FFF2-40B4-BE49-F238E27FC236}">
                <a16:creationId xmlns:a16="http://schemas.microsoft.com/office/drawing/2014/main" id="{DBA40C4A-4E92-4950-8CBA-4D9B0E861E1C}"/>
              </a:ext>
            </a:extLst>
          </p:cNvPr>
          <p:cNvSpPr/>
          <p:nvPr/>
        </p:nvSpPr>
        <p:spPr>
          <a:xfrm>
            <a:off x="8712200" y="4940300"/>
            <a:ext cx="63500" cy="63500"/>
          </a:xfrm>
          <a:prstGeom prst="ellipse">
            <a:avLst/>
          </a:prstGeom>
          <a:solidFill>
            <a:srgbClr val="4FE0B3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DD736572-8BCC-452E-8D32-F6A29D6B9E24}"/>
              </a:ext>
            </a:extLst>
          </p:cNvPr>
          <p:cNvSpPr txBox="1"/>
          <p:nvPr/>
        </p:nvSpPr>
        <p:spPr>
          <a:xfrm>
            <a:off x="8864600" y="4864100"/>
            <a:ext cx="2489200" cy="203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GB" sz="920">
                <a:solidFill>
                  <a:srgbClr val="A9CED0"/>
                </a:solidFill>
                <a:latin typeface="Aptos"/>
              </a:rPr>
              <a:t>Reorder suggestions</a:t>
            </a:r>
          </a:p>
        </p:txBody>
      </p:sp>
      <p:sp>
        <p:nvSpPr>
          <p:cNvPr id="119" name="Oval 118">
            <a:extLst>
              <a:ext uri="{FF2B5EF4-FFF2-40B4-BE49-F238E27FC236}">
                <a16:creationId xmlns:a16="http://schemas.microsoft.com/office/drawing/2014/main" id="{56D0150C-B6E1-4DA5-9E2D-C3754622AF6A}"/>
              </a:ext>
            </a:extLst>
          </p:cNvPr>
          <p:cNvSpPr/>
          <p:nvPr/>
        </p:nvSpPr>
        <p:spPr>
          <a:xfrm>
            <a:off x="8712200" y="5156200"/>
            <a:ext cx="63500" cy="63500"/>
          </a:xfrm>
          <a:prstGeom prst="ellipse">
            <a:avLst/>
          </a:prstGeom>
          <a:solidFill>
            <a:srgbClr val="4FE0B3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75E42C36-1C63-4716-BE5E-26D646630A96}"/>
              </a:ext>
            </a:extLst>
          </p:cNvPr>
          <p:cNvSpPr txBox="1"/>
          <p:nvPr/>
        </p:nvSpPr>
        <p:spPr>
          <a:xfrm>
            <a:off x="8864600" y="5080000"/>
            <a:ext cx="2489200" cy="203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GB" sz="920">
                <a:solidFill>
                  <a:srgbClr val="A9CED0"/>
                </a:solidFill>
                <a:latin typeface="Aptos"/>
              </a:rPr>
              <a:t>Expiry risk</a:t>
            </a:r>
          </a:p>
        </p:txBody>
      </p:sp>
      <p:sp>
        <p:nvSpPr>
          <p:cNvPr id="121" name="Oval 120">
            <a:extLst>
              <a:ext uri="{FF2B5EF4-FFF2-40B4-BE49-F238E27FC236}">
                <a16:creationId xmlns:a16="http://schemas.microsoft.com/office/drawing/2014/main" id="{9974A701-3E56-4311-9296-F2BCB8AC5CCE}"/>
              </a:ext>
            </a:extLst>
          </p:cNvPr>
          <p:cNvSpPr/>
          <p:nvPr/>
        </p:nvSpPr>
        <p:spPr>
          <a:xfrm>
            <a:off x="8712200" y="5372100"/>
            <a:ext cx="63500" cy="63500"/>
          </a:xfrm>
          <a:prstGeom prst="ellipse">
            <a:avLst/>
          </a:prstGeom>
          <a:solidFill>
            <a:srgbClr val="4FE0B3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C3236F95-B64A-4B0A-830A-8FFD4CDC2115}"/>
              </a:ext>
            </a:extLst>
          </p:cNvPr>
          <p:cNvSpPr txBox="1"/>
          <p:nvPr/>
        </p:nvSpPr>
        <p:spPr>
          <a:xfrm>
            <a:off x="8864600" y="5295900"/>
            <a:ext cx="2489200" cy="203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GB" sz="920">
                <a:solidFill>
                  <a:srgbClr val="A9CED0"/>
                </a:solidFill>
                <a:latin typeface="Aptos"/>
              </a:rPr>
              <a:t>Demand forecasting</a:t>
            </a:r>
          </a:p>
        </p:txBody>
      </p:sp>
      <p:sp>
        <p:nvSpPr>
          <p:cNvPr id="123" name="Oval 122">
            <a:extLst>
              <a:ext uri="{FF2B5EF4-FFF2-40B4-BE49-F238E27FC236}">
                <a16:creationId xmlns:a16="http://schemas.microsoft.com/office/drawing/2014/main" id="{FAB038D4-23C1-4557-B3BA-37262A0439A8}"/>
              </a:ext>
            </a:extLst>
          </p:cNvPr>
          <p:cNvSpPr/>
          <p:nvPr/>
        </p:nvSpPr>
        <p:spPr>
          <a:xfrm>
            <a:off x="8712200" y="5588000"/>
            <a:ext cx="63500" cy="63500"/>
          </a:xfrm>
          <a:prstGeom prst="ellipse">
            <a:avLst/>
          </a:prstGeom>
          <a:solidFill>
            <a:srgbClr val="4FE0B3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14772C8E-B284-4C9F-A408-91686B2FC638}"/>
              </a:ext>
            </a:extLst>
          </p:cNvPr>
          <p:cNvSpPr txBox="1"/>
          <p:nvPr/>
        </p:nvSpPr>
        <p:spPr>
          <a:xfrm>
            <a:off x="8864600" y="5511800"/>
            <a:ext cx="2489200" cy="203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GB" sz="920">
                <a:solidFill>
                  <a:srgbClr val="A9CED0"/>
                </a:solidFill>
                <a:latin typeface="Aptos"/>
              </a:rPr>
              <a:t>Slow-moving stock</a:t>
            </a:r>
          </a:p>
        </p:txBody>
      </p:sp>
      <p:sp>
        <p:nvSpPr>
          <p:cNvPr id="125" name="Rectangle: Rounded Corners 124">
            <a:extLst>
              <a:ext uri="{FF2B5EF4-FFF2-40B4-BE49-F238E27FC236}">
                <a16:creationId xmlns:a16="http://schemas.microsoft.com/office/drawing/2014/main" id="{31B1B4E6-92DC-4B67-B425-4D421A542F86}"/>
              </a:ext>
            </a:extLst>
          </p:cNvPr>
          <p:cNvSpPr/>
          <p:nvPr/>
        </p:nvSpPr>
        <p:spPr>
          <a:xfrm>
            <a:off x="3987800" y="1778000"/>
            <a:ext cx="4216400" cy="4140200"/>
          </a:xfrm>
          <a:prstGeom prst="roundRect">
            <a:avLst/>
          </a:prstGeom>
          <a:solidFill>
            <a:srgbClr val="0C292F"/>
          </a:solidFill>
          <a:ln w="15240" cap="flat" cmpd="sng" algn="ctr">
            <a:solidFill>
              <a:srgbClr val="34726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26" name="Rectangle: Rounded Corners 125">
            <a:extLst>
              <a:ext uri="{FF2B5EF4-FFF2-40B4-BE49-F238E27FC236}">
                <a16:creationId xmlns:a16="http://schemas.microsoft.com/office/drawing/2014/main" id="{DA0A1D2D-6FEF-4F77-A441-E65E02B19787}"/>
              </a:ext>
            </a:extLst>
          </p:cNvPr>
          <p:cNvSpPr/>
          <p:nvPr/>
        </p:nvSpPr>
        <p:spPr>
          <a:xfrm>
            <a:off x="3987800" y="1778000"/>
            <a:ext cx="4216400" cy="431800"/>
          </a:xfrm>
          <a:prstGeom prst="roundRect">
            <a:avLst/>
          </a:prstGeom>
          <a:solidFill>
            <a:srgbClr val="153F45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ADE217EB-2846-415F-8F95-35A01B15BAA9}"/>
              </a:ext>
            </a:extLst>
          </p:cNvPr>
          <p:cNvSpPr txBox="1"/>
          <p:nvPr/>
        </p:nvSpPr>
        <p:spPr>
          <a:xfrm>
            <a:off x="4191000" y="1879600"/>
            <a:ext cx="2413000" cy="22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l"/>
            <a:r>
              <a:rPr lang="en-GB" sz="900" b="1">
                <a:solidFill>
                  <a:srgbClr val="4FE0B3"/>
                </a:solidFill>
                <a:latin typeface="Aptos"/>
              </a:rPr>
              <a:t>DOSEDECK CONTROL CENTER</a:t>
            </a:r>
          </a:p>
        </p:txBody>
      </p:sp>
      <p:sp>
        <p:nvSpPr>
          <p:cNvPr id="128" name="Oval 127">
            <a:extLst>
              <a:ext uri="{FF2B5EF4-FFF2-40B4-BE49-F238E27FC236}">
                <a16:creationId xmlns:a16="http://schemas.microsoft.com/office/drawing/2014/main" id="{15899CA9-308C-41DB-9522-5C4172815D2E}"/>
              </a:ext>
            </a:extLst>
          </p:cNvPr>
          <p:cNvSpPr/>
          <p:nvPr/>
        </p:nvSpPr>
        <p:spPr>
          <a:xfrm>
            <a:off x="7721600" y="1905000"/>
            <a:ext cx="127000" cy="127000"/>
          </a:xfrm>
          <a:prstGeom prst="ellipse">
            <a:avLst/>
          </a:prstGeom>
          <a:solidFill>
            <a:srgbClr val="4FE0B3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29" name="Rectangle: Rounded Corners 128">
            <a:extLst>
              <a:ext uri="{FF2B5EF4-FFF2-40B4-BE49-F238E27FC236}">
                <a16:creationId xmlns:a16="http://schemas.microsoft.com/office/drawing/2014/main" id="{FE555EB8-825D-4DB5-B5F1-F923AF388487}"/>
              </a:ext>
            </a:extLst>
          </p:cNvPr>
          <p:cNvSpPr/>
          <p:nvPr/>
        </p:nvSpPr>
        <p:spPr>
          <a:xfrm>
            <a:off x="4140200" y="2362200"/>
            <a:ext cx="685800" cy="3276600"/>
          </a:xfrm>
          <a:prstGeom prst="roundRect">
            <a:avLst/>
          </a:prstGeom>
          <a:solidFill>
            <a:srgbClr val="092229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30" name="Oval 129">
            <a:extLst>
              <a:ext uri="{FF2B5EF4-FFF2-40B4-BE49-F238E27FC236}">
                <a16:creationId xmlns:a16="http://schemas.microsoft.com/office/drawing/2014/main" id="{980F2683-7E3B-4F8B-B700-E6B0ACAC0F96}"/>
              </a:ext>
            </a:extLst>
          </p:cNvPr>
          <p:cNvSpPr/>
          <p:nvPr/>
        </p:nvSpPr>
        <p:spPr>
          <a:xfrm>
            <a:off x="4330700" y="2603500"/>
            <a:ext cx="177800" cy="177800"/>
          </a:xfrm>
          <a:prstGeom prst="ellipse">
            <a:avLst/>
          </a:prstGeom>
          <a:solidFill>
            <a:srgbClr val="4FE0B3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949F0016-AC0D-4606-8006-B8916F06EA8A}"/>
              </a:ext>
            </a:extLst>
          </p:cNvPr>
          <p:cNvSpPr/>
          <p:nvPr/>
        </p:nvSpPr>
        <p:spPr>
          <a:xfrm>
            <a:off x="4572000" y="2667000"/>
            <a:ext cx="127000" cy="25400"/>
          </a:xfrm>
          <a:prstGeom prst="rect">
            <a:avLst/>
          </a:prstGeom>
          <a:solidFill>
            <a:srgbClr val="4FE0B3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32" name="Oval 131">
            <a:extLst>
              <a:ext uri="{FF2B5EF4-FFF2-40B4-BE49-F238E27FC236}">
                <a16:creationId xmlns:a16="http://schemas.microsoft.com/office/drawing/2014/main" id="{01203121-35F9-4363-A4E5-473F7E071703}"/>
              </a:ext>
            </a:extLst>
          </p:cNvPr>
          <p:cNvSpPr/>
          <p:nvPr/>
        </p:nvSpPr>
        <p:spPr>
          <a:xfrm>
            <a:off x="4330700" y="3149600"/>
            <a:ext cx="177800" cy="177800"/>
          </a:xfrm>
          <a:prstGeom prst="ellipse">
            <a:avLst/>
          </a:prstGeom>
          <a:solidFill>
            <a:srgbClr val="315D62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45AA2C5D-D044-4DB2-9D2F-834A92C92471}"/>
              </a:ext>
            </a:extLst>
          </p:cNvPr>
          <p:cNvSpPr/>
          <p:nvPr/>
        </p:nvSpPr>
        <p:spPr>
          <a:xfrm>
            <a:off x="4572000" y="3213100"/>
            <a:ext cx="127000" cy="25400"/>
          </a:xfrm>
          <a:prstGeom prst="rect">
            <a:avLst/>
          </a:prstGeom>
          <a:solidFill>
            <a:srgbClr val="5B8588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34" name="Oval 133">
            <a:extLst>
              <a:ext uri="{FF2B5EF4-FFF2-40B4-BE49-F238E27FC236}">
                <a16:creationId xmlns:a16="http://schemas.microsoft.com/office/drawing/2014/main" id="{D15A56BD-3A64-46BB-BA01-952C1033E334}"/>
              </a:ext>
            </a:extLst>
          </p:cNvPr>
          <p:cNvSpPr/>
          <p:nvPr/>
        </p:nvSpPr>
        <p:spPr>
          <a:xfrm>
            <a:off x="4330700" y="3695700"/>
            <a:ext cx="177800" cy="177800"/>
          </a:xfrm>
          <a:prstGeom prst="ellipse">
            <a:avLst/>
          </a:prstGeom>
          <a:solidFill>
            <a:srgbClr val="315D62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D551966C-642E-473B-93AF-CD5E3728EBE7}"/>
              </a:ext>
            </a:extLst>
          </p:cNvPr>
          <p:cNvSpPr/>
          <p:nvPr/>
        </p:nvSpPr>
        <p:spPr>
          <a:xfrm>
            <a:off x="4572000" y="3759200"/>
            <a:ext cx="127000" cy="25400"/>
          </a:xfrm>
          <a:prstGeom prst="rect">
            <a:avLst/>
          </a:prstGeom>
          <a:solidFill>
            <a:srgbClr val="5B8588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36" name="Oval 135">
            <a:extLst>
              <a:ext uri="{FF2B5EF4-FFF2-40B4-BE49-F238E27FC236}">
                <a16:creationId xmlns:a16="http://schemas.microsoft.com/office/drawing/2014/main" id="{BAF8B6F0-3D8A-4D73-B062-1AD2EF804E27}"/>
              </a:ext>
            </a:extLst>
          </p:cNvPr>
          <p:cNvSpPr/>
          <p:nvPr/>
        </p:nvSpPr>
        <p:spPr>
          <a:xfrm>
            <a:off x="4330700" y="4241800"/>
            <a:ext cx="177800" cy="177800"/>
          </a:xfrm>
          <a:prstGeom prst="ellipse">
            <a:avLst/>
          </a:prstGeom>
          <a:solidFill>
            <a:srgbClr val="315D62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795A093E-6320-49F1-ACCD-099F092ACA46}"/>
              </a:ext>
            </a:extLst>
          </p:cNvPr>
          <p:cNvSpPr/>
          <p:nvPr/>
        </p:nvSpPr>
        <p:spPr>
          <a:xfrm>
            <a:off x="4572000" y="4305300"/>
            <a:ext cx="127000" cy="25400"/>
          </a:xfrm>
          <a:prstGeom prst="rect">
            <a:avLst/>
          </a:prstGeom>
          <a:solidFill>
            <a:srgbClr val="5B8588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38" name="Oval 137">
            <a:extLst>
              <a:ext uri="{FF2B5EF4-FFF2-40B4-BE49-F238E27FC236}">
                <a16:creationId xmlns:a16="http://schemas.microsoft.com/office/drawing/2014/main" id="{DF53E533-F0CA-4258-84C5-0E63F4B1F7F8}"/>
              </a:ext>
            </a:extLst>
          </p:cNvPr>
          <p:cNvSpPr/>
          <p:nvPr/>
        </p:nvSpPr>
        <p:spPr>
          <a:xfrm>
            <a:off x="4330700" y="4787900"/>
            <a:ext cx="177800" cy="177800"/>
          </a:xfrm>
          <a:prstGeom prst="ellipse">
            <a:avLst/>
          </a:prstGeom>
          <a:solidFill>
            <a:srgbClr val="315D62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EF15C7C4-C617-495E-8C9F-6FD97414AA85}"/>
              </a:ext>
            </a:extLst>
          </p:cNvPr>
          <p:cNvSpPr/>
          <p:nvPr/>
        </p:nvSpPr>
        <p:spPr>
          <a:xfrm>
            <a:off x="4572000" y="4851400"/>
            <a:ext cx="127000" cy="25400"/>
          </a:xfrm>
          <a:prstGeom prst="rect">
            <a:avLst/>
          </a:prstGeom>
          <a:solidFill>
            <a:srgbClr val="5B8588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40" name="Rectangle: Rounded Corners 139">
            <a:extLst>
              <a:ext uri="{FF2B5EF4-FFF2-40B4-BE49-F238E27FC236}">
                <a16:creationId xmlns:a16="http://schemas.microsoft.com/office/drawing/2014/main" id="{82327545-5CD2-4CDD-BF79-5E567FCC396F}"/>
              </a:ext>
            </a:extLst>
          </p:cNvPr>
          <p:cNvSpPr/>
          <p:nvPr/>
        </p:nvSpPr>
        <p:spPr>
          <a:xfrm>
            <a:off x="4978400" y="2362200"/>
            <a:ext cx="3022600" cy="3276600"/>
          </a:xfrm>
          <a:prstGeom prst="roundRect">
            <a:avLst/>
          </a:prstGeom>
          <a:solidFill>
            <a:srgbClr val="0E3137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62FDE9EA-106E-46A9-AC2C-0AA69EC99809}"/>
              </a:ext>
            </a:extLst>
          </p:cNvPr>
          <p:cNvSpPr txBox="1"/>
          <p:nvPr/>
        </p:nvSpPr>
        <p:spPr>
          <a:xfrm>
            <a:off x="5168900" y="2501900"/>
            <a:ext cx="1905000" cy="203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GB" sz="850" b="1">
                <a:solidFill>
                  <a:srgbClr val="F6FAF9"/>
                </a:solidFill>
                <a:latin typeface="Aptos"/>
              </a:rPr>
              <a:t>PHARMACY OVERVIEW</a:t>
            </a:r>
          </a:p>
        </p:txBody>
      </p:sp>
      <p:sp>
        <p:nvSpPr>
          <p:cNvPr id="142" name="Rectangle: Rounded Corners 141">
            <a:extLst>
              <a:ext uri="{FF2B5EF4-FFF2-40B4-BE49-F238E27FC236}">
                <a16:creationId xmlns:a16="http://schemas.microsoft.com/office/drawing/2014/main" id="{A1A15B09-C153-47BD-8105-02892D32F39D}"/>
              </a:ext>
            </a:extLst>
          </p:cNvPr>
          <p:cNvSpPr/>
          <p:nvPr/>
        </p:nvSpPr>
        <p:spPr>
          <a:xfrm>
            <a:off x="5168900" y="2794000"/>
            <a:ext cx="812800" cy="635000"/>
          </a:xfrm>
          <a:prstGeom prst="roundRect">
            <a:avLst/>
          </a:prstGeom>
          <a:solidFill>
            <a:srgbClr val="153F45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6C53657D-96CB-4734-B773-8ACD9A927241}"/>
              </a:ext>
            </a:extLst>
          </p:cNvPr>
          <p:cNvSpPr txBox="1"/>
          <p:nvPr/>
        </p:nvSpPr>
        <p:spPr>
          <a:xfrm>
            <a:off x="5295900" y="2895600"/>
            <a:ext cx="558800" cy="152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GB" sz="750" b="1">
                <a:solidFill>
                  <a:srgbClr val="A9CED0"/>
                </a:solidFill>
                <a:latin typeface="Aptos"/>
              </a:rPr>
              <a:t>STOCK</a:t>
            </a: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27E3BD47-9980-4563-A09D-5640717D4827}"/>
              </a:ext>
            </a:extLst>
          </p:cNvPr>
          <p:cNvSpPr txBox="1"/>
          <p:nvPr/>
        </p:nvSpPr>
        <p:spPr>
          <a:xfrm>
            <a:off x="5257800" y="3098800"/>
            <a:ext cx="635000" cy="203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GB" sz="950" b="1">
                <a:solidFill>
                  <a:srgbClr val="4FE0B3"/>
                </a:solidFill>
                <a:latin typeface="Aptos"/>
              </a:rPr>
              <a:t>HEALTHY</a:t>
            </a:r>
          </a:p>
        </p:txBody>
      </p:sp>
      <p:sp>
        <p:nvSpPr>
          <p:cNvPr id="145" name="Rectangle: Rounded Corners 144">
            <a:extLst>
              <a:ext uri="{FF2B5EF4-FFF2-40B4-BE49-F238E27FC236}">
                <a16:creationId xmlns:a16="http://schemas.microsoft.com/office/drawing/2014/main" id="{2FD8B79E-820C-4E8C-ABE7-16C7B0040009}"/>
              </a:ext>
            </a:extLst>
          </p:cNvPr>
          <p:cNvSpPr/>
          <p:nvPr/>
        </p:nvSpPr>
        <p:spPr>
          <a:xfrm>
            <a:off x="6121400" y="2794000"/>
            <a:ext cx="812800" cy="635000"/>
          </a:xfrm>
          <a:prstGeom prst="roundRect">
            <a:avLst/>
          </a:prstGeom>
          <a:solidFill>
            <a:srgbClr val="153F45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86B746A1-B329-487E-841E-15FD754179BE}"/>
              </a:ext>
            </a:extLst>
          </p:cNvPr>
          <p:cNvSpPr txBox="1"/>
          <p:nvPr/>
        </p:nvSpPr>
        <p:spPr>
          <a:xfrm>
            <a:off x="6248400" y="2895600"/>
            <a:ext cx="558800" cy="152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GB" sz="750" b="1">
                <a:solidFill>
                  <a:srgbClr val="A9CED0"/>
                </a:solidFill>
                <a:latin typeface="Aptos"/>
              </a:rPr>
              <a:t>EXPIRY</a:t>
            </a: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F93B2B0D-E170-43CB-9C65-C19EDD5DDE7C}"/>
              </a:ext>
            </a:extLst>
          </p:cNvPr>
          <p:cNvSpPr txBox="1"/>
          <p:nvPr/>
        </p:nvSpPr>
        <p:spPr>
          <a:xfrm>
            <a:off x="6210300" y="3098800"/>
            <a:ext cx="635000" cy="203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GB" sz="950" b="1">
                <a:solidFill>
                  <a:srgbClr val="FF735F"/>
                </a:solidFill>
                <a:latin typeface="Aptos"/>
              </a:rPr>
              <a:t>WATCH</a:t>
            </a:r>
          </a:p>
        </p:txBody>
      </p:sp>
      <p:sp>
        <p:nvSpPr>
          <p:cNvPr id="148" name="Rectangle: Rounded Corners 147">
            <a:extLst>
              <a:ext uri="{FF2B5EF4-FFF2-40B4-BE49-F238E27FC236}">
                <a16:creationId xmlns:a16="http://schemas.microsoft.com/office/drawing/2014/main" id="{A7A191E8-46B0-4392-B53C-697AD2734B62}"/>
              </a:ext>
            </a:extLst>
          </p:cNvPr>
          <p:cNvSpPr/>
          <p:nvPr/>
        </p:nvSpPr>
        <p:spPr>
          <a:xfrm>
            <a:off x="7073900" y="2794000"/>
            <a:ext cx="736600" cy="635000"/>
          </a:xfrm>
          <a:prstGeom prst="roundRect">
            <a:avLst/>
          </a:prstGeom>
          <a:solidFill>
            <a:srgbClr val="153F45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685F635B-8A24-462D-A9E8-9573EB1A9F43}"/>
              </a:ext>
            </a:extLst>
          </p:cNvPr>
          <p:cNvSpPr txBox="1"/>
          <p:nvPr/>
        </p:nvSpPr>
        <p:spPr>
          <a:xfrm>
            <a:off x="7137400" y="2895600"/>
            <a:ext cx="609600" cy="152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GB" sz="750" b="1">
                <a:solidFill>
                  <a:srgbClr val="A9CED0"/>
                </a:solidFill>
                <a:latin typeface="Aptos"/>
              </a:rPr>
              <a:t>REORDER</a:t>
            </a: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CCC23C1E-5315-4F5B-A053-7A1E9533777F}"/>
              </a:ext>
            </a:extLst>
          </p:cNvPr>
          <p:cNvSpPr txBox="1"/>
          <p:nvPr/>
        </p:nvSpPr>
        <p:spPr>
          <a:xfrm>
            <a:off x="7137400" y="3098800"/>
            <a:ext cx="609600" cy="203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GB" sz="950" b="1">
                <a:solidFill>
                  <a:srgbClr val="D6FF3F"/>
                </a:solidFill>
                <a:latin typeface="Aptos"/>
              </a:rPr>
              <a:t>QUEUE</a:t>
            </a:r>
          </a:p>
        </p:txBody>
      </p:sp>
      <p:sp>
        <p:nvSpPr>
          <p:cNvPr id="151" name="Rectangle: Rounded Corners 150">
            <a:extLst>
              <a:ext uri="{FF2B5EF4-FFF2-40B4-BE49-F238E27FC236}">
                <a16:creationId xmlns:a16="http://schemas.microsoft.com/office/drawing/2014/main" id="{1F32217C-94CF-4FB0-8D41-97D657345F85}"/>
              </a:ext>
            </a:extLst>
          </p:cNvPr>
          <p:cNvSpPr/>
          <p:nvPr/>
        </p:nvSpPr>
        <p:spPr>
          <a:xfrm>
            <a:off x="5168900" y="3581400"/>
            <a:ext cx="2641600" cy="1041400"/>
          </a:xfrm>
          <a:prstGeom prst="roundRect">
            <a:avLst/>
          </a:prstGeom>
          <a:solidFill>
            <a:srgbClr val="0A282E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6E4AF8D2-C01E-4CC0-B8BB-EB8BCEB53476}"/>
              </a:ext>
            </a:extLst>
          </p:cNvPr>
          <p:cNvSpPr txBox="1"/>
          <p:nvPr/>
        </p:nvSpPr>
        <p:spPr>
          <a:xfrm>
            <a:off x="5321300" y="3683000"/>
            <a:ext cx="1270000" cy="152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GB" sz="750" b="1">
                <a:solidFill>
                  <a:srgbClr val="A9CED0"/>
                </a:solidFill>
                <a:latin typeface="Aptos"/>
              </a:rPr>
              <a:t>DEMAND SIGNAL</a:t>
            </a:r>
          </a:p>
        </p:txBody>
      </p:sp>
      <p:sp>
        <p:nvSpPr>
          <p:cNvPr id="153" name="Rectangle: Rounded Corners 152">
            <a:extLst>
              <a:ext uri="{FF2B5EF4-FFF2-40B4-BE49-F238E27FC236}">
                <a16:creationId xmlns:a16="http://schemas.microsoft.com/office/drawing/2014/main" id="{2AEFCCE4-45B2-4927-8E9D-DC73E77DAA48}"/>
              </a:ext>
            </a:extLst>
          </p:cNvPr>
          <p:cNvSpPr/>
          <p:nvPr/>
        </p:nvSpPr>
        <p:spPr>
          <a:xfrm>
            <a:off x="5359400" y="4291330"/>
            <a:ext cx="139700" cy="153670"/>
          </a:xfrm>
          <a:prstGeom prst="roundRect">
            <a:avLst/>
          </a:prstGeom>
          <a:solidFill>
            <a:srgbClr val="5EC8E5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54" name="Rectangle: Rounded Corners 153">
            <a:extLst>
              <a:ext uri="{FF2B5EF4-FFF2-40B4-BE49-F238E27FC236}">
                <a16:creationId xmlns:a16="http://schemas.microsoft.com/office/drawing/2014/main" id="{0049B4D7-61C9-4862-BB3F-7EF856CECEAD}"/>
              </a:ext>
            </a:extLst>
          </p:cNvPr>
          <p:cNvSpPr/>
          <p:nvPr/>
        </p:nvSpPr>
        <p:spPr>
          <a:xfrm>
            <a:off x="5638800" y="4207510"/>
            <a:ext cx="139700" cy="237490"/>
          </a:xfrm>
          <a:prstGeom prst="roundRect">
            <a:avLst/>
          </a:prstGeom>
          <a:solidFill>
            <a:srgbClr val="5EC8E5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55" name="Rectangle: Rounded Corners 154">
            <a:extLst>
              <a:ext uri="{FF2B5EF4-FFF2-40B4-BE49-F238E27FC236}">
                <a16:creationId xmlns:a16="http://schemas.microsoft.com/office/drawing/2014/main" id="{FE09D210-0F07-496D-AC40-C1CFACE1623D}"/>
              </a:ext>
            </a:extLst>
          </p:cNvPr>
          <p:cNvSpPr/>
          <p:nvPr/>
        </p:nvSpPr>
        <p:spPr>
          <a:xfrm>
            <a:off x="5918200" y="4249420"/>
            <a:ext cx="139700" cy="195580"/>
          </a:xfrm>
          <a:prstGeom prst="roundRect">
            <a:avLst/>
          </a:prstGeom>
          <a:solidFill>
            <a:srgbClr val="5EC8E5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56" name="Rectangle: Rounded Corners 155">
            <a:extLst>
              <a:ext uri="{FF2B5EF4-FFF2-40B4-BE49-F238E27FC236}">
                <a16:creationId xmlns:a16="http://schemas.microsoft.com/office/drawing/2014/main" id="{A84649DB-F06D-4291-BC4F-862329B6BFA1}"/>
              </a:ext>
            </a:extLst>
          </p:cNvPr>
          <p:cNvSpPr/>
          <p:nvPr/>
        </p:nvSpPr>
        <p:spPr>
          <a:xfrm>
            <a:off x="6197600" y="4109720"/>
            <a:ext cx="139700" cy="335280"/>
          </a:xfrm>
          <a:prstGeom prst="roundRect">
            <a:avLst/>
          </a:prstGeom>
          <a:solidFill>
            <a:srgbClr val="5EC8E5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57" name="Rectangle: Rounded Corners 156">
            <a:extLst>
              <a:ext uri="{FF2B5EF4-FFF2-40B4-BE49-F238E27FC236}">
                <a16:creationId xmlns:a16="http://schemas.microsoft.com/office/drawing/2014/main" id="{0315FA56-9ACD-40F2-BCA3-9DC1809D9779}"/>
              </a:ext>
            </a:extLst>
          </p:cNvPr>
          <p:cNvSpPr/>
          <p:nvPr/>
        </p:nvSpPr>
        <p:spPr>
          <a:xfrm>
            <a:off x="6477000" y="4165600"/>
            <a:ext cx="139700" cy="279400"/>
          </a:xfrm>
          <a:prstGeom prst="roundRect">
            <a:avLst/>
          </a:prstGeom>
          <a:solidFill>
            <a:srgbClr val="5EC8E5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58" name="Rectangle: Rounded Corners 157">
            <a:extLst>
              <a:ext uri="{FF2B5EF4-FFF2-40B4-BE49-F238E27FC236}">
                <a16:creationId xmlns:a16="http://schemas.microsoft.com/office/drawing/2014/main" id="{CD574D78-9D68-4167-AE83-D51A1C4B93D6}"/>
              </a:ext>
            </a:extLst>
          </p:cNvPr>
          <p:cNvSpPr/>
          <p:nvPr/>
        </p:nvSpPr>
        <p:spPr>
          <a:xfrm>
            <a:off x="6756400" y="4025900"/>
            <a:ext cx="139700" cy="419100"/>
          </a:xfrm>
          <a:prstGeom prst="roundRect">
            <a:avLst/>
          </a:prstGeom>
          <a:solidFill>
            <a:srgbClr val="5EC8E5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59" name="Rectangle: Rounded Corners 158">
            <a:extLst>
              <a:ext uri="{FF2B5EF4-FFF2-40B4-BE49-F238E27FC236}">
                <a16:creationId xmlns:a16="http://schemas.microsoft.com/office/drawing/2014/main" id="{E6B498D3-F27C-4328-8721-04D0F04BB7DF}"/>
              </a:ext>
            </a:extLst>
          </p:cNvPr>
          <p:cNvSpPr/>
          <p:nvPr/>
        </p:nvSpPr>
        <p:spPr>
          <a:xfrm>
            <a:off x="7035800" y="4074795"/>
            <a:ext cx="139700" cy="370205"/>
          </a:xfrm>
          <a:prstGeom prst="roundRect">
            <a:avLst/>
          </a:prstGeom>
          <a:solidFill>
            <a:srgbClr val="4FE0B3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60" name="Rectangle: Rounded Corners 159">
            <a:extLst>
              <a:ext uri="{FF2B5EF4-FFF2-40B4-BE49-F238E27FC236}">
                <a16:creationId xmlns:a16="http://schemas.microsoft.com/office/drawing/2014/main" id="{20384DB7-CB22-437B-9FED-E51259AC72FE}"/>
              </a:ext>
            </a:extLst>
          </p:cNvPr>
          <p:cNvSpPr/>
          <p:nvPr/>
        </p:nvSpPr>
        <p:spPr>
          <a:xfrm>
            <a:off x="7315200" y="3963035"/>
            <a:ext cx="139700" cy="481965"/>
          </a:xfrm>
          <a:prstGeom prst="roundRect">
            <a:avLst/>
          </a:prstGeom>
          <a:solidFill>
            <a:srgbClr val="4FE0B3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263AF761-4696-4849-9872-2065A709554C}"/>
              </a:ext>
            </a:extLst>
          </p:cNvPr>
          <p:cNvSpPr/>
          <p:nvPr/>
        </p:nvSpPr>
        <p:spPr>
          <a:xfrm>
            <a:off x="5321300" y="4457700"/>
            <a:ext cx="2311400" cy="12700"/>
          </a:xfrm>
          <a:prstGeom prst="rect">
            <a:avLst/>
          </a:prstGeom>
          <a:solidFill>
            <a:srgbClr val="376369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62" name="Rectangle: Rounded Corners 161">
            <a:extLst>
              <a:ext uri="{FF2B5EF4-FFF2-40B4-BE49-F238E27FC236}">
                <a16:creationId xmlns:a16="http://schemas.microsoft.com/office/drawing/2014/main" id="{E509D7E3-FB5D-4D96-9E77-B2A23E5831FA}"/>
              </a:ext>
            </a:extLst>
          </p:cNvPr>
          <p:cNvSpPr/>
          <p:nvPr/>
        </p:nvSpPr>
        <p:spPr>
          <a:xfrm>
            <a:off x="5168900" y="4775200"/>
            <a:ext cx="2641600" cy="685800"/>
          </a:xfrm>
          <a:prstGeom prst="roundRect">
            <a:avLst/>
          </a:prstGeom>
          <a:solidFill>
            <a:srgbClr val="0A282E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A936C5AB-5E96-4AD4-9120-4334A51DD666}"/>
              </a:ext>
            </a:extLst>
          </p:cNvPr>
          <p:cNvSpPr txBox="1"/>
          <p:nvPr/>
        </p:nvSpPr>
        <p:spPr>
          <a:xfrm>
            <a:off x="5321300" y="4851400"/>
            <a:ext cx="1143000" cy="152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GB" sz="750" b="1">
                <a:solidFill>
                  <a:srgbClr val="A9CED0"/>
                </a:solidFill>
                <a:latin typeface="Aptos"/>
              </a:rPr>
              <a:t>SMART ACTIONS</a:t>
            </a:r>
          </a:p>
        </p:txBody>
      </p:sp>
      <p:sp>
        <p:nvSpPr>
          <p:cNvPr id="164" name="Oval 163">
            <a:extLst>
              <a:ext uri="{FF2B5EF4-FFF2-40B4-BE49-F238E27FC236}">
                <a16:creationId xmlns:a16="http://schemas.microsoft.com/office/drawing/2014/main" id="{BB3B1E98-CDAB-4BA8-A1CC-C9C13FE4CF65}"/>
              </a:ext>
            </a:extLst>
          </p:cNvPr>
          <p:cNvSpPr/>
          <p:nvPr/>
        </p:nvSpPr>
        <p:spPr>
          <a:xfrm>
            <a:off x="5334000" y="5105400"/>
            <a:ext cx="88900" cy="88900"/>
          </a:xfrm>
          <a:prstGeom prst="ellipse">
            <a:avLst/>
          </a:prstGeom>
          <a:solidFill>
            <a:srgbClr val="FF735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95420E92-839A-4B0F-9756-78F148633CCD}"/>
              </a:ext>
            </a:extLst>
          </p:cNvPr>
          <p:cNvSpPr txBox="1"/>
          <p:nvPr/>
        </p:nvSpPr>
        <p:spPr>
          <a:xfrm>
            <a:off x="5499100" y="5029200"/>
            <a:ext cx="1333500" cy="177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GB" sz="800" b="1">
                <a:solidFill>
                  <a:srgbClr val="F6FAF9"/>
                </a:solidFill>
                <a:latin typeface="Aptos"/>
              </a:rPr>
              <a:t>Expiry risk detected</a:t>
            </a:r>
          </a:p>
        </p:txBody>
      </p:sp>
      <p:sp>
        <p:nvSpPr>
          <p:cNvPr id="166" name="Rectangle: Rounded Corners 165">
            <a:extLst>
              <a:ext uri="{FF2B5EF4-FFF2-40B4-BE49-F238E27FC236}">
                <a16:creationId xmlns:a16="http://schemas.microsoft.com/office/drawing/2014/main" id="{C06F8FE1-6DC0-4A5F-9346-872B5401B6C4}"/>
              </a:ext>
            </a:extLst>
          </p:cNvPr>
          <p:cNvSpPr/>
          <p:nvPr/>
        </p:nvSpPr>
        <p:spPr>
          <a:xfrm>
            <a:off x="6972300" y="5041900"/>
            <a:ext cx="685800" cy="215900"/>
          </a:xfrm>
          <a:prstGeom prst="roundRect">
            <a:avLst/>
          </a:prstGeom>
          <a:solidFill>
            <a:srgbClr val="174D45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DF58F78B-1D9B-407C-AA90-BC26E228BE60}"/>
              </a:ext>
            </a:extLst>
          </p:cNvPr>
          <p:cNvSpPr txBox="1"/>
          <p:nvPr/>
        </p:nvSpPr>
        <p:spPr>
          <a:xfrm>
            <a:off x="7023100" y="5067300"/>
            <a:ext cx="584200" cy="152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GB" sz="700" b="1">
                <a:solidFill>
                  <a:srgbClr val="4FE0B3"/>
                </a:solidFill>
                <a:latin typeface="Aptos"/>
              </a:rPr>
              <a:t>REVIEW</a:t>
            </a:r>
          </a:p>
        </p:txBody>
      </p:sp>
      <p:sp>
        <p:nvSpPr>
          <p:cNvPr id="168" name="Oval 167">
            <a:extLst>
              <a:ext uri="{FF2B5EF4-FFF2-40B4-BE49-F238E27FC236}">
                <a16:creationId xmlns:a16="http://schemas.microsoft.com/office/drawing/2014/main" id="{BAB225E5-7505-48F0-814F-4AC750EB4275}"/>
              </a:ext>
            </a:extLst>
          </p:cNvPr>
          <p:cNvSpPr/>
          <p:nvPr/>
        </p:nvSpPr>
        <p:spPr>
          <a:xfrm>
            <a:off x="5334000" y="5321300"/>
            <a:ext cx="88900" cy="88900"/>
          </a:xfrm>
          <a:prstGeom prst="ellipse">
            <a:avLst/>
          </a:prstGeom>
          <a:solidFill>
            <a:srgbClr val="D6FF3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4FBEB17B-AF6D-422D-A5DF-8A8656D5D75D}"/>
              </a:ext>
            </a:extLst>
          </p:cNvPr>
          <p:cNvSpPr txBox="1"/>
          <p:nvPr/>
        </p:nvSpPr>
        <p:spPr>
          <a:xfrm>
            <a:off x="5499100" y="5245100"/>
            <a:ext cx="1333500" cy="177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GB" sz="800" b="1">
                <a:solidFill>
                  <a:srgbClr val="F6FAF9"/>
                </a:solidFill>
                <a:latin typeface="Aptos"/>
              </a:rPr>
              <a:t>Reorder suggested</a:t>
            </a:r>
          </a:p>
        </p:txBody>
      </p:sp>
      <p:sp>
        <p:nvSpPr>
          <p:cNvPr id="170" name="Rectangle: Rounded Corners 169">
            <a:extLst>
              <a:ext uri="{FF2B5EF4-FFF2-40B4-BE49-F238E27FC236}">
                <a16:creationId xmlns:a16="http://schemas.microsoft.com/office/drawing/2014/main" id="{D6325F87-0310-445A-8494-7459CFA0CBB5}"/>
              </a:ext>
            </a:extLst>
          </p:cNvPr>
          <p:cNvSpPr/>
          <p:nvPr/>
        </p:nvSpPr>
        <p:spPr>
          <a:xfrm>
            <a:off x="6972300" y="5257800"/>
            <a:ext cx="685800" cy="215900"/>
          </a:xfrm>
          <a:prstGeom prst="roundRect">
            <a:avLst/>
          </a:prstGeom>
          <a:solidFill>
            <a:srgbClr val="3D4922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2A59F300-F559-438A-9030-9FC66CF2DAF3}"/>
              </a:ext>
            </a:extLst>
          </p:cNvPr>
          <p:cNvSpPr txBox="1"/>
          <p:nvPr/>
        </p:nvSpPr>
        <p:spPr>
          <a:xfrm>
            <a:off x="7023100" y="5283200"/>
            <a:ext cx="584200" cy="152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GB" sz="700" b="1">
                <a:solidFill>
                  <a:srgbClr val="D6FF3F"/>
                </a:solidFill>
                <a:latin typeface="Aptos"/>
              </a:rPr>
              <a:t>OPEN</a:t>
            </a:r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19875969-4794-44B3-BE94-E76C29AB44B5}"/>
              </a:ext>
            </a:extLst>
          </p:cNvPr>
          <p:cNvSpPr txBox="1"/>
          <p:nvPr/>
        </p:nvSpPr>
        <p:spPr>
          <a:xfrm>
            <a:off x="3987800" y="5969000"/>
            <a:ext cx="4216400" cy="22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l"/>
            <a:r>
              <a:rPr lang="en-IN" sz="900" b="1">
                <a:solidFill>
                  <a:srgbClr val="4FE0B3"/>
                </a:solidFill>
                <a:latin typeface="Aptos"/>
              </a:rPr>
              <a:t>ONE SYSTEM • ONE LIVE VIEW • BETTER DAILY DECISIONS</a:t>
            </a:r>
            <a:endParaRPr lang="en-GB" sz="900" b="1">
              <a:solidFill>
                <a:srgbClr val="4FE0B3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8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TextBox 175">
            <a:extLst>
              <a:ext uri="{FF2B5EF4-FFF2-40B4-BE49-F238E27FC236}">
                <a16:creationId xmlns:a16="http://schemas.microsoft.com/office/drawing/2014/main" id="{F20DE8D2-19A2-4A10-8134-D4B13D8A202F}"/>
              </a:ext>
            </a:extLst>
          </p:cNvPr>
          <p:cNvSpPr txBox="1"/>
          <p:nvPr/>
        </p:nvSpPr>
        <p:spPr>
          <a:xfrm>
            <a:off x="508000" y="254000"/>
            <a:ext cx="1397000" cy="203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GB" sz="900" b="1">
                <a:solidFill>
                  <a:srgbClr val="4FE0B3"/>
                </a:solidFill>
                <a:latin typeface="Aptos"/>
              </a:rPr>
              <a:t>DOSEDECK</a:t>
            </a:r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C3B8FA69-970E-4E98-B2E3-E0AE4967653B}"/>
              </a:ext>
            </a:extLst>
          </p:cNvPr>
          <p:cNvSpPr txBox="1"/>
          <p:nvPr/>
        </p:nvSpPr>
        <p:spPr>
          <a:xfrm>
            <a:off x="2159000" y="254000"/>
            <a:ext cx="3302000" cy="203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GB" sz="900" b="1">
                <a:solidFill>
                  <a:srgbClr val="A9CED0"/>
                </a:solidFill>
                <a:latin typeface="Aptos"/>
              </a:rPr>
              <a:t>END-TO-END TECHNICAL ARCHITECTURE</a:t>
            </a:r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F29618DF-0162-4406-84CA-648A73C45330}"/>
              </a:ext>
            </a:extLst>
          </p:cNvPr>
          <p:cNvSpPr txBox="1"/>
          <p:nvPr/>
        </p:nvSpPr>
        <p:spPr>
          <a:xfrm>
            <a:off x="11430000" y="6413500"/>
            <a:ext cx="304800" cy="177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GB" sz="900" b="1">
                <a:solidFill>
                  <a:srgbClr val="A9CED0"/>
                </a:solidFill>
                <a:latin typeface="Aptos"/>
              </a:rPr>
              <a:t>05</a:t>
            </a:r>
          </a:p>
        </p:txBody>
      </p:sp>
      <p:sp>
        <p:nvSpPr>
          <p:cNvPr id="179" name="Rectangle 178">
            <a:extLst>
              <a:ext uri="{FF2B5EF4-FFF2-40B4-BE49-F238E27FC236}">
                <a16:creationId xmlns:a16="http://schemas.microsoft.com/office/drawing/2014/main" id="{61B5158F-32F8-469E-96AD-C610D332B9BA}"/>
              </a:ext>
            </a:extLst>
          </p:cNvPr>
          <p:cNvSpPr/>
          <p:nvPr/>
        </p:nvSpPr>
        <p:spPr>
          <a:xfrm>
            <a:off x="508000" y="6375400"/>
            <a:ext cx="10185400" cy="15240"/>
          </a:xfrm>
          <a:prstGeom prst="rect">
            <a:avLst/>
          </a:prstGeom>
          <a:solidFill>
            <a:srgbClr val="315B61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E91DB845-C1EA-4F3E-9BDD-6E13BC338E82}"/>
              </a:ext>
            </a:extLst>
          </p:cNvPr>
          <p:cNvSpPr txBox="1"/>
          <p:nvPr/>
        </p:nvSpPr>
        <p:spPr>
          <a:xfrm>
            <a:off x="635000" y="660400"/>
            <a:ext cx="10541000" cy="508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l"/>
            <a:r>
              <a:rPr lang="en-GB" sz="2500" b="1">
                <a:solidFill>
                  <a:srgbClr val="F6FAF9"/>
                </a:solidFill>
                <a:latin typeface="Aptos"/>
              </a:rPr>
              <a:t>DoseDeck — End-to-End AI Architecture</a:t>
            </a:r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C77C34FB-4A3D-4ACB-A01F-E3053B97C3C0}"/>
              </a:ext>
            </a:extLst>
          </p:cNvPr>
          <p:cNvSpPr txBox="1"/>
          <p:nvPr/>
        </p:nvSpPr>
        <p:spPr>
          <a:xfrm>
            <a:off x="635000" y="1257300"/>
            <a:ext cx="10160000" cy="304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l"/>
            <a:r>
              <a:rPr lang="en-IN" sz="1300" b="1">
                <a:solidFill>
                  <a:srgbClr val="4FE0B3"/>
                </a:solidFill>
                <a:latin typeface="Aptos"/>
              </a:rPr>
              <a:t>Physical pharmacy activity becomes structured inventory—automatically.</a:t>
            </a:r>
            <a:endParaRPr lang="en-GB" sz="1300" b="1">
              <a:solidFill>
                <a:srgbClr val="4FE0B3"/>
              </a:solidFill>
              <a:latin typeface="Aptos"/>
            </a:endParaRPr>
          </a:p>
        </p:txBody>
      </p:sp>
      <p:sp>
        <p:nvSpPr>
          <p:cNvPr id="182" name="Rectangle: Rounded Corners 181">
            <a:extLst>
              <a:ext uri="{FF2B5EF4-FFF2-40B4-BE49-F238E27FC236}">
                <a16:creationId xmlns:a16="http://schemas.microsoft.com/office/drawing/2014/main" id="{5D604797-49D4-4C38-980E-0A81022BE4A8}"/>
              </a:ext>
            </a:extLst>
          </p:cNvPr>
          <p:cNvSpPr/>
          <p:nvPr/>
        </p:nvSpPr>
        <p:spPr>
          <a:xfrm>
            <a:off x="709399" y="2362200"/>
            <a:ext cx="1600200" cy="2209800"/>
          </a:xfrm>
          <a:prstGeom prst="roundRect">
            <a:avLst/>
          </a:prstGeom>
          <a:solidFill>
            <a:srgbClr val="10343A"/>
          </a:solidFill>
          <a:ln w="12700" cap="flat" cmpd="sng" algn="ctr">
            <a:solidFill>
              <a:srgbClr val="28545A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83" name="Oval 182">
            <a:extLst>
              <a:ext uri="{FF2B5EF4-FFF2-40B4-BE49-F238E27FC236}">
                <a16:creationId xmlns:a16="http://schemas.microsoft.com/office/drawing/2014/main" id="{D1550A6D-7F80-4618-8D34-FF41DD908C03}"/>
              </a:ext>
            </a:extLst>
          </p:cNvPr>
          <p:cNvSpPr/>
          <p:nvPr/>
        </p:nvSpPr>
        <p:spPr>
          <a:xfrm>
            <a:off x="1191999" y="2565400"/>
            <a:ext cx="635000" cy="635000"/>
          </a:xfrm>
          <a:prstGeom prst="ellipse">
            <a:avLst/>
          </a:prstGeom>
          <a:solidFill>
            <a:srgbClr val="0A2A30"/>
          </a:solidFill>
          <a:ln w="16510" cap="flat" cmpd="sng" algn="ctr">
            <a:solidFill>
              <a:srgbClr val="5EC8E5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84" name="Rectangle: Rounded Corners 183">
            <a:extLst>
              <a:ext uri="{FF2B5EF4-FFF2-40B4-BE49-F238E27FC236}">
                <a16:creationId xmlns:a16="http://schemas.microsoft.com/office/drawing/2014/main" id="{FE0B8685-417E-48FF-9D83-F6415DFCA153}"/>
              </a:ext>
            </a:extLst>
          </p:cNvPr>
          <p:cNvSpPr/>
          <p:nvPr/>
        </p:nvSpPr>
        <p:spPr>
          <a:xfrm>
            <a:off x="1344399" y="2667000"/>
            <a:ext cx="330200" cy="431800"/>
          </a:xfrm>
          <a:prstGeom prst="roundRect">
            <a:avLst/>
          </a:prstGeom>
          <a:solidFill>
            <a:srgbClr val="09252B"/>
          </a:solidFill>
          <a:ln w="17780" cap="flat" cmpd="sng" algn="ctr">
            <a:solidFill>
              <a:srgbClr val="5EC8E5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85" name="Rectangle 184">
            <a:extLst>
              <a:ext uri="{FF2B5EF4-FFF2-40B4-BE49-F238E27FC236}">
                <a16:creationId xmlns:a16="http://schemas.microsoft.com/office/drawing/2014/main" id="{7472153D-7052-4E52-8698-91085F04389D}"/>
              </a:ext>
            </a:extLst>
          </p:cNvPr>
          <p:cNvSpPr/>
          <p:nvPr/>
        </p:nvSpPr>
        <p:spPr>
          <a:xfrm>
            <a:off x="1420599" y="2794000"/>
            <a:ext cx="177800" cy="25400"/>
          </a:xfrm>
          <a:prstGeom prst="rect">
            <a:avLst/>
          </a:prstGeom>
          <a:solidFill>
            <a:srgbClr val="5EC8E5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86" name="Rectangle 185">
            <a:extLst>
              <a:ext uri="{FF2B5EF4-FFF2-40B4-BE49-F238E27FC236}">
                <a16:creationId xmlns:a16="http://schemas.microsoft.com/office/drawing/2014/main" id="{570C554C-C18B-4B89-B27A-87745695078C}"/>
              </a:ext>
            </a:extLst>
          </p:cNvPr>
          <p:cNvSpPr/>
          <p:nvPr/>
        </p:nvSpPr>
        <p:spPr>
          <a:xfrm>
            <a:off x="1420599" y="2882900"/>
            <a:ext cx="177800" cy="25400"/>
          </a:xfrm>
          <a:prstGeom prst="rect">
            <a:avLst/>
          </a:prstGeom>
          <a:solidFill>
            <a:srgbClr val="5EC8E5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249C2E53-A582-44A5-98F3-5762E22B4F6F}"/>
              </a:ext>
            </a:extLst>
          </p:cNvPr>
          <p:cNvSpPr/>
          <p:nvPr/>
        </p:nvSpPr>
        <p:spPr>
          <a:xfrm>
            <a:off x="1420599" y="2971800"/>
            <a:ext cx="127000" cy="25400"/>
          </a:xfrm>
          <a:prstGeom prst="rect">
            <a:avLst/>
          </a:prstGeom>
          <a:solidFill>
            <a:srgbClr val="5EC8E5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7848E735-10E6-427B-828B-A659CF35F106}"/>
              </a:ext>
            </a:extLst>
          </p:cNvPr>
          <p:cNvSpPr txBox="1"/>
          <p:nvPr/>
        </p:nvSpPr>
        <p:spPr>
          <a:xfrm>
            <a:off x="836399" y="3352800"/>
            <a:ext cx="1346200" cy="3175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GB" sz="1200" b="1">
                <a:solidFill>
                  <a:srgbClr val="5EC8E5"/>
                </a:solidFill>
                <a:latin typeface="Aptos"/>
              </a:rPr>
              <a:t>PHARMACY INPUTS</a:t>
            </a:r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CBA5ADB6-8A53-4D1D-8E58-14CF9973C21C}"/>
              </a:ext>
            </a:extLst>
          </p:cNvPr>
          <p:cNvSpPr txBox="1"/>
          <p:nvPr/>
        </p:nvSpPr>
        <p:spPr>
          <a:xfrm>
            <a:off x="861799" y="3733800"/>
            <a:ext cx="1295400" cy="533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 fontScale="92500" lnSpcReduction="10000"/>
          </a:bodyPr>
          <a:lstStyle/>
          <a:p>
            <a:r>
              <a:rPr lang="en-GB" sz="850" dirty="0">
                <a:solidFill>
                  <a:srgbClr val="A9CED0"/>
                </a:solidFill>
                <a:latin typeface="Aptos"/>
              </a:rPr>
              <a:t>• Invoice </a:t>
            </a:r>
          </a:p>
          <a:p>
            <a:r>
              <a:rPr lang="en-GB" sz="850" dirty="0">
                <a:solidFill>
                  <a:srgbClr val="A9CED0"/>
                </a:solidFill>
                <a:latin typeface="Aptos"/>
              </a:rPr>
              <a:t>• Batch Pack
• Barcode </a:t>
            </a:r>
          </a:p>
          <a:p>
            <a:r>
              <a:rPr lang="en-GB" sz="850" dirty="0">
                <a:solidFill>
                  <a:srgbClr val="A9CED0"/>
                </a:solidFill>
                <a:latin typeface="Aptos"/>
              </a:rPr>
              <a:t>• </a:t>
            </a:r>
            <a:r>
              <a:rPr lang="en-GB" sz="850" dirty="0" err="1">
                <a:solidFill>
                  <a:srgbClr val="A9CED0"/>
                </a:solidFill>
                <a:latin typeface="Aptos"/>
              </a:rPr>
              <a:t>Delear’s</a:t>
            </a:r>
            <a:r>
              <a:rPr lang="en-GB" sz="850" dirty="0">
                <a:solidFill>
                  <a:srgbClr val="A9CED0"/>
                </a:solidFill>
                <a:latin typeface="Aptos"/>
              </a:rPr>
              <a:t> info</a:t>
            </a:r>
          </a:p>
        </p:txBody>
      </p:sp>
      <p:sp>
        <p:nvSpPr>
          <p:cNvPr id="190" name="Arrow: Right 189">
            <a:extLst>
              <a:ext uri="{FF2B5EF4-FFF2-40B4-BE49-F238E27FC236}">
                <a16:creationId xmlns:a16="http://schemas.microsoft.com/office/drawing/2014/main" id="{1162BD92-069F-4D89-8E7F-7D3902E290B3}"/>
              </a:ext>
            </a:extLst>
          </p:cNvPr>
          <p:cNvSpPr/>
          <p:nvPr/>
        </p:nvSpPr>
        <p:spPr>
          <a:xfrm>
            <a:off x="2475647" y="3270250"/>
            <a:ext cx="254000" cy="177800"/>
          </a:xfrm>
          <a:prstGeom prst="rightArrow">
            <a:avLst/>
          </a:prstGeom>
          <a:solidFill>
            <a:srgbClr val="6C9699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91" name="Rectangle: Rounded Corners 190">
            <a:extLst>
              <a:ext uri="{FF2B5EF4-FFF2-40B4-BE49-F238E27FC236}">
                <a16:creationId xmlns:a16="http://schemas.microsoft.com/office/drawing/2014/main" id="{D0AC88E4-64FB-492C-B5D4-0EC1DB9BE87B}"/>
              </a:ext>
            </a:extLst>
          </p:cNvPr>
          <p:cNvSpPr/>
          <p:nvPr/>
        </p:nvSpPr>
        <p:spPr>
          <a:xfrm>
            <a:off x="2900149" y="2240981"/>
            <a:ext cx="1600200" cy="2209800"/>
          </a:xfrm>
          <a:prstGeom prst="roundRect">
            <a:avLst/>
          </a:prstGeom>
          <a:solidFill>
            <a:srgbClr val="10343A"/>
          </a:solidFill>
          <a:ln w="12700" cap="flat" cmpd="sng" algn="ctr">
            <a:solidFill>
              <a:srgbClr val="28545A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92" name="Oval 191">
            <a:extLst>
              <a:ext uri="{FF2B5EF4-FFF2-40B4-BE49-F238E27FC236}">
                <a16:creationId xmlns:a16="http://schemas.microsoft.com/office/drawing/2014/main" id="{7490F467-3C2E-4FB7-AEEA-CFB63EB4598D}"/>
              </a:ext>
            </a:extLst>
          </p:cNvPr>
          <p:cNvSpPr/>
          <p:nvPr/>
        </p:nvSpPr>
        <p:spPr>
          <a:xfrm>
            <a:off x="3382749" y="2444181"/>
            <a:ext cx="635000" cy="635000"/>
          </a:xfrm>
          <a:prstGeom prst="ellipse">
            <a:avLst/>
          </a:prstGeom>
          <a:solidFill>
            <a:srgbClr val="0A2A30"/>
          </a:solidFill>
          <a:ln w="16510" cap="flat" cmpd="sng" algn="ctr">
            <a:solidFill>
              <a:srgbClr val="4FE0B3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93" name="Rectangle 192">
            <a:extLst>
              <a:ext uri="{FF2B5EF4-FFF2-40B4-BE49-F238E27FC236}">
                <a16:creationId xmlns:a16="http://schemas.microsoft.com/office/drawing/2014/main" id="{CF15E8D2-1ECD-43BF-A890-F892A38DF9C9}"/>
              </a:ext>
            </a:extLst>
          </p:cNvPr>
          <p:cNvSpPr/>
          <p:nvPr/>
        </p:nvSpPr>
        <p:spPr>
          <a:xfrm>
            <a:off x="3484349" y="2545781"/>
            <a:ext cx="152400" cy="25400"/>
          </a:xfrm>
          <a:prstGeom prst="rect">
            <a:avLst/>
          </a:prstGeom>
          <a:solidFill>
            <a:srgbClr val="4FE0B3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94" name="Rectangle 193">
            <a:extLst>
              <a:ext uri="{FF2B5EF4-FFF2-40B4-BE49-F238E27FC236}">
                <a16:creationId xmlns:a16="http://schemas.microsoft.com/office/drawing/2014/main" id="{275CF0EB-30BB-4C27-A84A-DA181C7EEB51}"/>
              </a:ext>
            </a:extLst>
          </p:cNvPr>
          <p:cNvSpPr/>
          <p:nvPr/>
        </p:nvSpPr>
        <p:spPr>
          <a:xfrm>
            <a:off x="3484349" y="2545781"/>
            <a:ext cx="25400" cy="152400"/>
          </a:xfrm>
          <a:prstGeom prst="rect">
            <a:avLst/>
          </a:prstGeom>
          <a:solidFill>
            <a:srgbClr val="4FE0B3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95" name="Rectangle 194">
            <a:extLst>
              <a:ext uri="{FF2B5EF4-FFF2-40B4-BE49-F238E27FC236}">
                <a16:creationId xmlns:a16="http://schemas.microsoft.com/office/drawing/2014/main" id="{6A0C0312-94D6-4A08-9109-A36FA4145513}"/>
              </a:ext>
            </a:extLst>
          </p:cNvPr>
          <p:cNvSpPr/>
          <p:nvPr/>
        </p:nvSpPr>
        <p:spPr>
          <a:xfrm>
            <a:off x="3763749" y="2545781"/>
            <a:ext cx="152400" cy="25400"/>
          </a:xfrm>
          <a:prstGeom prst="rect">
            <a:avLst/>
          </a:prstGeom>
          <a:solidFill>
            <a:srgbClr val="4FE0B3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96" name="Rectangle 195">
            <a:extLst>
              <a:ext uri="{FF2B5EF4-FFF2-40B4-BE49-F238E27FC236}">
                <a16:creationId xmlns:a16="http://schemas.microsoft.com/office/drawing/2014/main" id="{DA510EF2-391B-40C9-B170-5C865CB7AD68}"/>
              </a:ext>
            </a:extLst>
          </p:cNvPr>
          <p:cNvSpPr/>
          <p:nvPr/>
        </p:nvSpPr>
        <p:spPr>
          <a:xfrm>
            <a:off x="3890749" y="2545781"/>
            <a:ext cx="25400" cy="152400"/>
          </a:xfrm>
          <a:prstGeom prst="rect">
            <a:avLst/>
          </a:prstGeom>
          <a:solidFill>
            <a:srgbClr val="4FE0B3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97" name="Rectangle 196">
            <a:extLst>
              <a:ext uri="{FF2B5EF4-FFF2-40B4-BE49-F238E27FC236}">
                <a16:creationId xmlns:a16="http://schemas.microsoft.com/office/drawing/2014/main" id="{4C2126A7-CA78-45DA-8B36-76498E834EA5}"/>
              </a:ext>
            </a:extLst>
          </p:cNvPr>
          <p:cNvSpPr/>
          <p:nvPr/>
        </p:nvSpPr>
        <p:spPr>
          <a:xfrm>
            <a:off x="3484349" y="2952181"/>
            <a:ext cx="152400" cy="25400"/>
          </a:xfrm>
          <a:prstGeom prst="rect">
            <a:avLst/>
          </a:prstGeom>
          <a:solidFill>
            <a:srgbClr val="4FE0B3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98" name="Rectangle 197">
            <a:extLst>
              <a:ext uri="{FF2B5EF4-FFF2-40B4-BE49-F238E27FC236}">
                <a16:creationId xmlns:a16="http://schemas.microsoft.com/office/drawing/2014/main" id="{A0F55E18-B64D-489B-B54A-42B1CD35E827}"/>
              </a:ext>
            </a:extLst>
          </p:cNvPr>
          <p:cNvSpPr/>
          <p:nvPr/>
        </p:nvSpPr>
        <p:spPr>
          <a:xfrm>
            <a:off x="3484349" y="2825181"/>
            <a:ext cx="25400" cy="152400"/>
          </a:xfrm>
          <a:prstGeom prst="rect">
            <a:avLst/>
          </a:prstGeom>
          <a:solidFill>
            <a:srgbClr val="4FE0B3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99" name="Rectangle 198">
            <a:extLst>
              <a:ext uri="{FF2B5EF4-FFF2-40B4-BE49-F238E27FC236}">
                <a16:creationId xmlns:a16="http://schemas.microsoft.com/office/drawing/2014/main" id="{F2832084-BC96-4D87-AFB0-6FE48AA782A1}"/>
              </a:ext>
            </a:extLst>
          </p:cNvPr>
          <p:cNvSpPr/>
          <p:nvPr/>
        </p:nvSpPr>
        <p:spPr>
          <a:xfrm>
            <a:off x="3763749" y="2952181"/>
            <a:ext cx="152400" cy="25400"/>
          </a:xfrm>
          <a:prstGeom prst="rect">
            <a:avLst/>
          </a:prstGeom>
          <a:solidFill>
            <a:srgbClr val="4FE0B3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00" name="Rectangle 199">
            <a:extLst>
              <a:ext uri="{FF2B5EF4-FFF2-40B4-BE49-F238E27FC236}">
                <a16:creationId xmlns:a16="http://schemas.microsoft.com/office/drawing/2014/main" id="{2C7411A7-5C7F-4600-BDF0-B39FC093622E}"/>
              </a:ext>
            </a:extLst>
          </p:cNvPr>
          <p:cNvSpPr/>
          <p:nvPr/>
        </p:nvSpPr>
        <p:spPr>
          <a:xfrm>
            <a:off x="3890749" y="2825181"/>
            <a:ext cx="25400" cy="152400"/>
          </a:xfrm>
          <a:prstGeom prst="rect">
            <a:avLst/>
          </a:prstGeom>
          <a:solidFill>
            <a:srgbClr val="4FE0B3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01" name="Rectangle 200">
            <a:extLst>
              <a:ext uri="{FF2B5EF4-FFF2-40B4-BE49-F238E27FC236}">
                <a16:creationId xmlns:a16="http://schemas.microsoft.com/office/drawing/2014/main" id="{48BE1BBB-250C-4360-894F-6B53300CD14E}"/>
              </a:ext>
            </a:extLst>
          </p:cNvPr>
          <p:cNvSpPr/>
          <p:nvPr/>
        </p:nvSpPr>
        <p:spPr>
          <a:xfrm>
            <a:off x="3573249" y="2748981"/>
            <a:ext cx="254000" cy="25400"/>
          </a:xfrm>
          <a:prstGeom prst="rect">
            <a:avLst/>
          </a:prstGeom>
          <a:solidFill>
            <a:srgbClr val="4FE0B3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02" name="TextBox 201">
            <a:extLst>
              <a:ext uri="{FF2B5EF4-FFF2-40B4-BE49-F238E27FC236}">
                <a16:creationId xmlns:a16="http://schemas.microsoft.com/office/drawing/2014/main" id="{293D7EF5-F5E1-4D92-9885-0E1899D92906}"/>
              </a:ext>
            </a:extLst>
          </p:cNvPr>
          <p:cNvSpPr txBox="1"/>
          <p:nvPr/>
        </p:nvSpPr>
        <p:spPr>
          <a:xfrm>
            <a:off x="3027149" y="3231581"/>
            <a:ext cx="1346200" cy="3175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l"/>
            <a:r>
              <a:rPr lang="en-GB" sz="1200" b="1">
                <a:solidFill>
                  <a:srgbClr val="4FE0B3"/>
                </a:solidFill>
                <a:latin typeface="Aptos"/>
              </a:rPr>
              <a:t>CAPTURE</a:t>
            </a:r>
          </a:p>
        </p:txBody>
      </p:sp>
      <p:sp>
        <p:nvSpPr>
          <p:cNvPr id="203" name="TextBox 202">
            <a:extLst>
              <a:ext uri="{FF2B5EF4-FFF2-40B4-BE49-F238E27FC236}">
                <a16:creationId xmlns:a16="http://schemas.microsoft.com/office/drawing/2014/main" id="{59FE90B4-FA6A-442D-8F0F-E42D668C68C7}"/>
              </a:ext>
            </a:extLst>
          </p:cNvPr>
          <p:cNvSpPr txBox="1"/>
          <p:nvPr/>
        </p:nvSpPr>
        <p:spPr>
          <a:xfrm>
            <a:off x="3052549" y="3612581"/>
            <a:ext cx="1295400" cy="533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 fontScale="92500" lnSpcReduction="10000"/>
          </a:bodyPr>
          <a:lstStyle/>
          <a:p>
            <a:r>
              <a:rPr lang="en-GB" sz="850" dirty="0">
                <a:solidFill>
                  <a:srgbClr val="A9CED0"/>
                </a:solidFill>
                <a:latin typeface="Aptos"/>
              </a:rPr>
              <a:t>• Camera  Scanner </a:t>
            </a:r>
          </a:p>
          <a:p>
            <a:r>
              <a:rPr lang="en-GB" sz="850" dirty="0">
                <a:solidFill>
                  <a:srgbClr val="A9CED0"/>
                </a:solidFill>
                <a:latin typeface="Aptos"/>
              </a:rPr>
              <a:t>• Invoice upload </a:t>
            </a:r>
          </a:p>
          <a:p>
            <a:r>
              <a:rPr lang="en-GB" sz="850" dirty="0">
                <a:solidFill>
                  <a:srgbClr val="A9CED0"/>
                </a:solidFill>
                <a:latin typeface="Aptos"/>
              </a:rPr>
              <a:t>• Sell Out</a:t>
            </a:r>
          </a:p>
          <a:p>
            <a:r>
              <a:rPr lang="en-GB" sz="850" dirty="0">
                <a:solidFill>
                  <a:srgbClr val="A9CED0"/>
                </a:solidFill>
                <a:latin typeface="Aptos"/>
              </a:rPr>
              <a:t>• Voice mode enabled</a:t>
            </a:r>
          </a:p>
        </p:txBody>
      </p:sp>
      <p:sp>
        <p:nvSpPr>
          <p:cNvPr id="204" name="Arrow: Right 203">
            <a:extLst>
              <a:ext uri="{FF2B5EF4-FFF2-40B4-BE49-F238E27FC236}">
                <a16:creationId xmlns:a16="http://schemas.microsoft.com/office/drawing/2014/main" id="{3769EE01-9B65-43C4-8991-00F1245DE919}"/>
              </a:ext>
            </a:extLst>
          </p:cNvPr>
          <p:cNvSpPr/>
          <p:nvPr/>
        </p:nvSpPr>
        <p:spPr>
          <a:xfrm>
            <a:off x="4700137" y="3270250"/>
            <a:ext cx="254000" cy="177800"/>
          </a:xfrm>
          <a:prstGeom prst="rightArrow">
            <a:avLst/>
          </a:prstGeom>
          <a:solidFill>
            <a:srgbClr val="6C9699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10" name="Rectangle 209">
            <a:extLst>
              <a:ext uri="{FF2B5EF4-FFF2-40B4-BE49-F238E27FC236}">
                <a16:creationId xmlns:a16="http://schemas.microsoft.com/office/drawing/2014/main" id="{5E29E0F7-F668-4BA2-AAD4-21B9CD306A6A}"/>
              </a:ext>
            </a:extLst>
          </p:cNvPr>
          <p:cNvSpPr/>
          <p:nvPr/>
        </p:nvSpPr>
        <p:spPr>
          <a:xfrm>
            <a:off x="5321300" y="2730500"/>
            <a:ext cx="101600" cy="25400"/>
          </a:xfrm>
          <a:prstGeom prst="rect">
            <a:avLst/>
          </a:prstGeom>
          <a:solidFill>
            <a:srgbClr val="FF735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15" name="Arrow: Right 214">
            <a:extLst>
              <a:ext uri="{FF2B5EF4-FFF2-40B4-BE49-F238E27FC236}">
                <a16:creationId xmlns:a16="http://schemas.microsoft.com/office/drawing/2014/main" id="{C5FBE1A8-6B6C-4F0D-A590-24E1045C9259}"/>
              </a:ext>
            </a:extLst>
          </p:cNvPr>
          <p:cNvSpPr/>
          <p:nvPr/>
        </p:nvSpPr>
        <p:spPr>
          <a:xfrm>
            <a:off x="7130007" y="3243428"/>
            <a:ext cx="254000" cy="177800"/>
          </a:xfrm>
          <a:prstGeom prst="rightArrow">
            <a:avLst/>
          </a:prstGeom>
          <a:solidFill>
            <a:srgbClr val="FF735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23" name="Arrow: Right 222">
            <a:extLst>
              <a:ext uri="{FF2B5EF4-FFF2-40B4-BE49-F238E27FC236}">
                <a16:creationId xmlns:a16="http://schemas.microsoft.com/office/drawing/2014/main" id="{CA88DC41-9708-4DF9-A0DB-103B5BE4B644}"/>
              </a:ext>
            </a:extLst>
          </p:cNvPr>
          <p:cNvSpPr/>
          <p:nvPr/>
        </p:nvSpPr>
        <p:spPr>
          <a:xfrm>
            <a:off x="7962900" y="3175000"/>
            <a:ext cx="254000" cy="177800"/>
          </a:xfrm>
          <a:prstGeom prst="rightArrow">
            <a:avLst/>
          </a:prstGeom>
          <a:solidFill>
            <a:srgbClr val="6C9699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28" name="Rectangle 227">
            <a:extLst>
              <a:ext uri="{FF2B5EF4-FFF2-40B4-BE49-F238E27FC236}">
                <a16:creationId xmlns:a16="http://schemas.microsoft.com/office/drawing/2014/main" id="{28EF11BB-02BE-4296-AC83-CB6C42153428}"/>
              </a:ext>
            </a:extLst>
          </p:cNvPr>
          <p:cNvSpPr/>
          <p:nvPr/>
        </p:nvSpPr>
        <p:spPr>
          <a:xfrm>
            <a:off x="8978900" y="2590800"/>
            <a:ext cx="25400" cy="317500"/>
          </a:xfrm>
          <a:prstGeom prst="rect">
            <a:avLst/>
          </a:prstGeom>
          <a:solidFill>
            <a:srgbClr val="4FE0B3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29" name="Rectangle 228">
            <a:extLst>
              <a:ext uri="{FF2B5EF4-FFF2-40B4-BE49-F238E27FC236}">
                <a16:creationId xmlns:a16="http://schemas.microsoft.com/office/drawing/2014/main" id="{77D267C6-A138-47FB-AFA6-E49AFC4EA964}"/>
              </a:ext>
            </a:extLst>
          </p:cNvPr>
          <p:cNvSpPr/>
          <p:nvPr/>
        </p:nvSpPr>
        <p:spPr>
          <a:xfrm>
            <a:off x="9131300" y="2590800"/>
            <a:ext cx="25400" cy="317500"/>
          </a:xfrm>
          <a:prstGeom prst="rect">
            <a:avLst/>
          </a:prstGeom>
          <a:solidFill>
            <a:srgbClr val="4FE0B3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31" name="TextBox 230">
            <a:extLst>
              <a:ext uri="{FF2B5EF4-FFF2-40B4-BE49-F238E27FC236}">
                <a16:creationId xmlns:a16="http://schemas.microsoft.com/office/drawing/2014/main" id="{C672BEA8-82EA-4D84-BEDF-2E1D1FE4C803}"/>
              </a:ext>
            </a:extLst>
          </p:cNvPr>
          <p:cNvSpPr txBox="1"/>
          <p:nvPr/>
        </p:nvSpPr>
        <p:spPr>
          <a:xfrm>
            <a:off x="8585200" y="1561910"/>
            <a:ext cx="1295400" cy="533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 fontScale="92500" lnSpcReduction="10000"/>
          </a:bodyPr>
          <a:lstStyle/>
          <a:p>
            <a:r>
              <a:rPr lang="en-GB" sz="850" dirty="0">
                <a:solidFill>
                  <a:srgbClr val="A9CED0"/>
                </a:solidFill>
                <a:latin typeface="Aptos"/>
              </a:rPr>
              <a:t>• Inventory Track </a:t>
            </a:r>
          </a:p>
          <a:p>
            <a:r>
              <a:rPr lang="en-GB" sz="850" dirty="0">
                <a:solidFill>
                  <a:srgbClr val="A9CED0"/>
                </a:solidFill>
                <a:latin typeface="Aptos"/>
              </a:rPr>
              <a:t>• Easy  Billing
• Batch Track</a:t>
            </a:r>
          </a:p>
          <a:p>
            <a:r>
              <a:rPr lang="en-GB" sz="850" dirty="0">
                <a:solidFill>
                  <a:srgbClr val="A9CED0"/>
                </a:solidFill>
                <a:latin typeface="Aptos"/>
              </a:rPr>
              <a:t>• Revenue estimation</a:t>
            </a:r>
          </a:p>
          <a:p>
            <a:endParaRPr lang="en-GB" sz="850" dirty="0">
              <a:solidFill>
                <a:srgbClr val="A9CED0"/>
              </a:solidFill>
              <a:latin typeface="Aptos"/>
            </a:endParaRPr>
          </a:p>
        </p:txBody>
      </p:sp>
      <p:sp>
        <p:nvSpPr>
          <p:cNvPr id="233" name="Rectangle: Rounded Corners 232">
            <a:extLst>
              <a:ext uri="{FF2B5EF4-FFF2-40B4-BE49-F238E27FC236}">
                <a16:creationId xmlns:a16="http://schemas.microsoft.com/office/drawing/2014/main" id="{DB3FD8CE-88AF-4AC2-8779-7E9AF1D71268}"/>
              </a:ext>
            </a:extLst>
          </p:cNvPr>
          <p:cNvSpPr/>
          <p:nvPr/>
        </p:nvSpPr>
        <p:spPr>
          <a:xfrm>
            <a:off x="10185400" y="2209800"/>
            <a:ext cx="1600200" cy="2209800"/>
          </a:xfrm>
          <a:prstGeom prst="roundRect">
            <a:avLst/>
          </a:prstGeom>
          <a:solidFill>
            <a:srgbClr val="10343A"/>
          </a:solidFill>
          <a:ln w="12700" cap="flat" cmpd="sng" algn="ctr">
            <a:solidFill>
              <a:srgbClr val="28545A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34" name="Oval 233">
            <a:extLst>
              <a:ext uri="{FF2B5EF4-FFF2-40B4-BE49-F238E27FC236}">
                <a16:creationId xmlns:a16="http://schemas.microsoft.com/office/drawing/2014/main" id="{4A6D6D14-29AA-4275-A933-F9A81670687B}"/>
              </a:ext>
            </a:extLst>
          </p:cNvPr>
          <p:cNvSpPr/>
          <p:nvPr/>
        </p:nvSpPr>
        <p:spPr>
          <a:xfrm>
            <a:off x="10668000" y="2413000"/>
            <a:ext cx="635000" cy="635000"/>
          </a:xfrm>
          <a:prstGeom prst="ellipse">
            <a:avLst/>
          </a:prstGeom>
          <a:solidFill>
            <a:srgbClr val="0A2A30"/>
          </a:solidFill>
          <a:ln w="16510" cap="flat" cmpd="sng" algn="ctr">
            <a:solidFill>
              <a:srgbClr val="5EC8E5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35" name="Rectangle: Rounded Corners 234">
            <a:extLst>
              <a:ext uri="{FF2B5EF4-FFF2-40B4-BE49-F238E27FC236}">
                <a16:creationId xmlns:a16="http://schemas.microsoft.com/office/drawing/2014/main" id="{9BB4B95F-05E7-49CB-B686-D1C0417BC95D}"/>
              </a:ext>
            </a:extLst>
          </p:cNvPr>
          <p:cNvSpPr/>
          <p:nvPr/>
        </p:nvSpPr>
        <p:spPr>
          <a:xfrm>
            <a:off x="10756900" y="2540000"/>
            <a:ext cx="457200" cy="381000"/>
          </a:xfrm>
          <a:prstGeom prst="roundRect">
            <a:avLst/>
          </a:prstGeom>
          <a:solidFill>
            <a:srgbClr val="09252B"/>
          </a:solidFill>
          <a:ln w="17780" cap="flat" cmpd="sng" algn="ctr">
            <a:solidFill>
              <a:srgbClr val="5EC8E5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36" name="Rectangle: Rounded Corners 235">
            <a:extLst>
              <a:ext uri="{FF2B5EF4-FFF2-40B4-BE49-F238E27FC236}">
                <a16:creationId xmlns:a16="http://schemas.microsoft.com/office/drawing/2014/main" id="{3D6E4851-914D-4225-9DB2-103C4FBBEEE3}"/>
              </a:ext>
            </a:extLst>
          </p:cNvPr>
          <p:cNvSpPr/>
          <p:nvPr/>
        </p:nvSpPr>
        <p:spPr>
          <a:xfrm>
            <a:off x="10833100" y="2616200"/>
            <a:ext cx="114300" cy="101600"/>
          </a:xfrm>
          <a:prstGeom prst="roundRect">
            <a:avLst/>
          </a:prstGeom>
          <a:solidFill>
            <a:srgbClr val="5EC8E5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37" name="Rectangle: Rounded Corners 236">
            <a:extLst>
              <a:ext uri="{FF2B5EF4-FFF2-40B4-BE49-F238E27FC236}">
                <a16:creationId xmlns:a16="http://schemas.microsoft.com/office/drawing/2014/main" id="{50B154B5-F8B8-4B75-95C0-3191D12BDDFF}"/>
              </a:ext>
            </a:extLst>
          </p:cNvPr>
          <p:cNvSpPr/>
          <p:nvPr/>
        </p:nvSpPr>
        <p:spPr>
          <a:xfrm>
            <a:off x="11023600" y="2616200"/>
            <a:ext cx="114300" cy="101600"/>
          </a:xfrm>
          <a:prstGeom prst="roundRect">
            <a:avLst/>
          </a:prstGeom>
          <a:solidFill>
            <a:srgbClr val="5EC8E5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38" name="Rectangle: Rounded Corners 237">
            <a:extLst>
              <a:ext uri="{FF2B5EF4-FFF2-40B4-BE49-F238E27FC236}">
                <a16:creationId xmlns:a16="http://schemas.microsoft.com/office/drawing/2014/main" id="{C1E29C2E-C3D5-42DD-BB94-0DFBE46EC54B}"/>
              </a:ext>
            </a:extLst>
          </p:cNvPr>
          <p:cNvSpPr/>
          <p:nvPr/>
        </p:nvSpPr>
        <p:spPr>
          <a:xfrm>
            <a:off x="10833100" y="2768600"/>
            <a:ext cx="114300" cy="76200"/>
          </a:xfrm>
          <a:prstGeom prst="roundRect">
            <a:avLst/>
          </a:prstGeom>
          <a:solidFill>
            <a:srgbClr val="5EC8E5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39" name="Rectangle: Rounded Corners 238">
            <a:extLst>
              <a:ext uri="{FF2B5EF4-FFF2-40B4-BE49-F238E27FC236}">
                <a16:creationId xmlns:a16="http://schemas.microsoft.com/office/drawing/2014/main" id="{8EC45866-6863-4997-AEEC-68A3066981BD}"/>
              </a:ext>
            </a:extLst>
          </p:cNvPr>
          <p:cNvSpPr/>
          <p:nvPr/>
        </p:nvSpPr>
        <p:spPr>
          <a:xfrm>
            <a:off x="11023600" y="2768600"/>
            <a:ext cx="114300" cy="76200"/>
          </a:xfrm>
          <a:prstGeom prst="roundRect">
            <a:avLst/>
          </a:prstGeom>
          <a:solidFill>
            <a:srgbClr val="5EC8E5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40" name="TextBox 239">
            <a:extLst>
              <a:ext uri="{FF2B5EF4-FFF2-40B4-BE49-F238E27FC236}">
                <a16:creationId xmlns:a16="http://schemas.microsoft.com/office/drawing/2014/main" id="{A6E21E32-3A69-4077-96F4-B19B2D8D03C4}"/>
              </a:ext>
            </a:extLst>
          </p:cNvPr>
          <p:cNvSpPr txBox="1"/>
          <p:nvPr/>
        </p:nvSpPr>
        <p:spPr>
          <a:xfrm>
            <a:off x="10312400" y="3200400"/>
            <a:ext cx="1346200" cy="3175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l"/>
            <a:r>
              <a:rPr lang="en-GB" sz="1200" b="1">
                <a:solidFill>
                  <a:srgbClr val="5EC8E5"/>
                </a:solidFill>
                <a:latin typeface="Aptos"/>
              </a:rPr>
              <a:t>DASHBOARD</a:t>
            </a:r>
          </a:p>
        </p:txBody>
      </p:sp>
      <p:sp>
        <p:nvSpPr>
          <p:cNvPr id="241" name="TextBox 240">
            <a:extLst>
              <a:ext uri="{FF2B5EF4-FFF2-40B4-BE49-F238E27FC236}">
                <a16:creationId xmlns:a16="http://schemas.microsoft.com/office/drawing/2014/main" id="{DCBF34BC-7F10-4D9F-A55C-0176083A6E8A}"/>
              </a:ext>
            </a:extLst>
          </p:cNvPr>
          <p:cNvSpPr txBox="1"/>
          <p:nvPr/>
        </p:nvSpPr>
        <p:spPr>
          <a:xfrm>
            <a:off x="10337800" y="3581400"/>
            <a:ext cx="1295400" cy="533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r>
              <a:rPr lang="en-GB" sz="850" dirty="0">
                <a:solidFill>
                  <a:srgbClr val="A9CED0"/>
                </a:solidFill>
                <a:latin typeface="Aptos"/>
              </a:rPr>
              <a:t>Stock • Alerts
Actions •  Recommendation</a:t>
            </a:r>
          </a:p>
        </p:txBody>
      </p:sp>
      <p:sp>
        <p:nvSpPr>
          <p:cNvPr id="242" name="Arrow: Down 241">
            <a:extLst>
              <a:ext uri="{FF2B5EF4-FFF2-40B4-BE49-F238E27FC236}">
                <a16:creationId xmlns:a16="http://schemas.microsoft.com/office/drawing/2014/main" id="{F1F32571-7A76-4469-A973-921EDF08C32B}"/>
              </a:ext>
            </a:extLst>
          </p:cNvPr>
          <p:cNvSpPr/>
          <p:nvPr/>
        </p:nvSpPr>
        <p:spPr>
          <a:xfrm>
            <a:off x="8334422" y="4457700"/>
            <a:ext cx="177800" cy="304800"/>
          </a:xfrm>
          <a:prstGeom prst="downArrow">
            <a:avLst/>
          </a:prstGeom>
          <a:solidFill>
            <a:srgbClr val="D6FF3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43" name="Rectangle: Rounded Corners 242">
            <a:extLst>
              <a:ext uri="{FF2B5EF4-FFF2-40B4-BE49-F238E27FC236}">
                <a16:creationId xmlns:a16="http://schemas.microsoft.com/office/drawing/2014/main" id="{FDFD327C-211D-4E7C-9525-8114BA2243FC}"/>
              </a:ext>
            </a:extLst>
          </p:cNvPr>
          <p:cNvSpPr/>
          <p:nvPr/>
        </p:nvSpPr>
        <p:spPr>
          <a:xfrm>
            <a:off x="7264400" y="4851400"/>
            <a:ext cx="1981200" cy="660400"/>
          </a:xfrm>
          <a:prstGeom prst="roundRect">
            <a:avLst/>
          </a:prstGeom>
          <a:solidFill>
            <a:srgbClr val="123B35"/>
          </a:solidFill>
          <a:ln w="25400" cap="flat" cmpd="sng" algn="ctr">
            <a:solidFill>
              <a:srgbClr val="D6FF3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44" name="Oval 243">
            <a:extLst>
              <a:ext uri="{FF2B5EF4-FFF2-40B4-BE49-F238E27FC236}">
                <a16:creationId xmlns:a16="http://schemas.microsoft.com/office/drawing/2014/main" id="{C5CE4B29-922B-407D-BC70-F8D51A58B6E1}"/>
              </a:ext>
            </a:extLst>
          </p:cNvPr>
          <p:cNvSpPr/>
          <p:nvPr/>
        </p:nvSpPr>
        <p:spPr>
          <a:xfrm>
            <a:off x="7416800" y="5029200"/>
            <a:ext cx="304800" cy="304800"/>
          </a:xfrm>
          <a:prstGeom prst="ellipse">
            <a:avLst/>
          </a:prstGeom>
          <a:solidFill>
            <a:srgbClr val="0A2A30"/>
          </a:solidFill>
          <a:ln w="15240" cap="flat" cmpd="sng" algn="ctr">
            <a:solidFill>
              <a:srgbClr val="D6FF3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45" name="TextBox 244">
            <a:extLst>
              <a:ext uri="{FF2B5EF4-FFF2-40B4-BE49-F238E27FC236}">
                <a16:creationId xmlns:a16="http://schemas.microsoft.com/office/drawing/2014/main" id="{106ED490-FA2A-448D-AB8A-878066D97812}"/>
              </a:ext>
            </a:extLst>
          </p:cNvPr>
          <p:cNvSpPr txBox="1"/>
          <p:nvPr/>
        </p:nvSpPr>
        <p:spPr>
          <a:xfrm>
            <a:off x="7493000" y="5067300"/>
            <a:ext cx="152400" cy="177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GB" sz="700" b="1">
                <a:solidFill>
                  <a:srgbClr val="D6FF3F"/>
                </a:solidFill>
                <a:latin typeface="Aptos"/>
              </a:rPr>
              <a:t>AI</a:t>
            </a:r>
          </a:p>
        </p:txBody>
      </p:sp>
      <p:sp>
        <p:nvSpPr>
          <p:cNvPr id="246" name="TextBox 245">
            <a:extLst>
              <a:ext uri="{FF2B5EF4-FFF2-40B4-BE49-F238E27FC236}">
                <a16:creationId xmlns:a16="http://schemas.microsoft.com/office/drawing/2014/main" id="{2785EF13-6FF7-4F73-A455-A75EA57A76E2}"/>
              </a:ext>
            </a:extLst>
          </p:cNvPr>
          <p:cNvSpPr txBox="1"/>
          <p:nvPr/>
        </p:nvSpPr>
        <p:spPr>
          <a:xfrm>
            <a:off x="7810500" y="4940300"/>
            <a:ext cx="1308100" cy="203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GB" sz="820" b="1">
                <a:solidFill>
                  <a:srgbClr val="D6FF3F"/>
                </a:solidFill>
                <a:latin typeface="Aptos"/>
              </a:rPr>
              <a:t>INVENTORY INTELLIGENCE</a:t>
            </a:r>
          </a:p>
        </p:txBody>
      </p:sp>
      <p:sp>
        <p:nvSpPr>
          <p:cNvPr id="247" name="TextBox 246">
            <a:extLst>
              <a:ext uri="{FF2B5EF4-FFF2-40B4-BE49-F238E27FC236}">
                <a16:creationId xmlns:a16="http://schemas.microsoft.com/office/drawing/2014/main" id="{9BED3195-8100-4100-A15D-D8812B10E406}"/>
              </a:ext>
            </a:extLst>
          </p:cNvPr>
          <p:cNvSpPr txBox="1"/>
          <p:nvPr/>
        </p:nvSpPr>
        <p:spPr>
          <a:xfrm>
            <a:off x="7810500" y="5168900"/>
            <a:ext cx="1308100" cy="177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GB" sz="740">
                <a:solidFill>
                  <a:srgbClr val="A9CED0"/>
                </a:solidFill>
                <a:latin typeface="Aptos"/>
              </a:rPr>
              <a:t>Demand • expiry risk</a:t>
            </a:r>
          </a:p>
        </p:txBody>
      </p:sp>
      <p:sp>
        <p:nvSpPr>
          <p:cNvPr id="248" name="Arrow: Right 247">
            <a:extLst>
              <a:ext uri="{FF2B5EF4-FFF2-40B4-BE49-F238E27FC236}">
                <a16:creationId xmlns:a16="http://schemas.microsoft.com/office/drawing/2014/main" id="{8AE8B020-D701-4E47-B20E-ED98FE196085}"/>
              </a:ext>
            </a:extLst>
          </p:cNvPr>
          <p:cNvSpPr/>
          <p:nvPr/>
        </p:nvSpPr>
        <p:spPr>
          <a:xfrm>
            <a:off x="9309100" y="5092700"/>
            <a:ext cx="304800" cy="177800"/>
          </a:xfrm>
          <a:prstGeom prst="rightArrow">
            <a:avLst/>
          </a:prstGeom>
          <a:solidFill>
            <a:srgbClr val="D6FF3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49" name="Rectangle: Rounded Corners 248">
            <a:extLst>
              <a:ext uri="{FF2B5EF4-FFF2-40B4-BE49-F238E27FC236}">
                <a16:creationId xmlns:a16="http://schemas.microsoft.com/office/drawing/2014/main" id="{B3493928-0EEB-4406-8CE2-4315A5CC9159}"/>
              </a:ext>
            </a:extLst>
          </p:cNvPr>
          <p:cNvSpPr/>
          <p:nvPr/>
        </p:nvSpPr>
        <p:spPr>
          <a:xfrm>
            <a:off x="9702800" y="4851400"/>
            <a:ext cx="1981200" cy="660400"/>
          </a:xfrm>
          <a:prstGeom prst="roundRect">
            <a:avLst/>
          </a:prstGeom>
          <a:solidFill>
            <a:srgbClr val="27391E"/>
          </a:solidFill>
          <a:ln w="25400" cap="flat" cmpd="sng" algn="ctr">
            <a:solidFill>
              <a:srgbClr val="D6FF3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50" name="Oval 249">
            <a:extLst>
              <a:ext uri="{FF2B5EF4-FFF2-40B4-BE49-F238E27FC236}">
                <a16:creationId xmlns:a16="http://schemas.microsoft.com/office/drawing/2014/main" id="{7F4EC0E2-1365-4159-9745-669A99297071}"/>
              </a:ext>
            </a:extLst>
          </p:cNvPr>
          <p:cNvSpPr/>
          <p:nvPr/>
        </p:nvSpPr>
        <p:spPr>
          <a:xfrm>
            <a:off x="9855200" y="5029200"/>
            <a:ext cx="304800" cy="304800"/>
          </a:xfrm>
          <a:prstGeom prst="ellipse">
            <a:avLst/>
          </a:prstGeom>
          <a:solidFill>
            <a:srgbClr val="D6FF3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51" name="TextBox 250">
            <a:extLst>
              <a:ext uri="{FF2B5EF4-FFF2-40B4-BE49-F238E27FC236}">
                <a16:creationId xmlns:a16="http://schemas.microsoft.com/office/drawing/2014/main" id="{1EC2EAD2-CDA7-4E45-B528-19D0D89EFF05}"/>
              </a:ext>
            </a:extLst>
          </p:cNvPr>
          <p:cNvSpPr txBox="1"/>
          <p:nvPr/>
        </p:nvSpPr>
        <p:spPr>
          <a:xfrm>
            <a:off x="9918700" y="5067300"/>
            <a:ext cx="177800" cy="177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GB" sz="1000" b="1">
                <a:solidFill>
                  <a:srgbClr val="061C21"/>
                </a:solidFill>
                <a:latin typeface="Aptos"/>
              </a:rPr>
              <a:t>↗</a:t>
            </a:r>
          </a:p>
        </p:txBody>
      </p:sp>
      <p:sp>
        <p:nvSpPr>
          <p:cNvPr id="252" name="TextBox 251">
            <a:extLst>
              <a:ext uri="{FF2B5EF4-FFF2-40B4-BE49-F238E27FC236}">
                <a16:creationId xmlns:a16="http://schemas.microsoft.com/office/drawing/2014/main" id="{59D19E84-7FE5-4E57-9FFB-C7C32CC21CD1}"/>
              </a:ext>
            </a:extLst>
          </p:cNvPr>
          <p:cNvSpPr txBox="1"/>
          <p:nvPr/>
        </p:nvSpPr>
        <p:spPr>
          <a:xfrm>
            <a:off x="10248900" y="4940300"/>
            <a:ext cx="1308100" cy="203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GB" sz="820" b="1">
                <a:solidFill>
                  <a:srgbClr val="D6FF3F"/>
                </a:solidFill>
                <a:latin typeface="Aptos"/>
              </a:rPr>
              <a:t>PREDICTIVE REORDER</a:t>
            </a:r>
          </a:p>
        </p:txBody>
      </p:sp>
      <p:sp>
        <p:nvSpPr>
          <p:cNvPr id="253" name="TextBox 252">
            <a:extLst>
              <a:ext uri="{FF2B5EF4-FFF2-40B4-BE49-F238E27FC236}">
                <a16:creationId xmlns:a16="http://schemas.microsoft.com/office/drawing/2014/main" id="{FFC5E51C-D518-43C0-A7C4-C180D71EE73F}"/>
              </a:ext>
            </a:extLst>
          </p:cNvPr>
          <p:cNvSpPr txBox="1"/>
          <p:nvPr/>
        </p:nvSpPr>
        <p:spPr>
          <a:xfrm>
            <a:off x="10248900" y="5168900"/>
            <a:ext cx="1308100" cy="177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GB" sz="740">
                <a:solidFill>
                  <a:srgbClr val="A9CED0"/>
                </a:solidFill>
                <a:latin typeface="Aptos"/>
              </a:rPr>
              <a:t>What to buy next</a:t>
            </a:r>
          </a:p>
        </p:txBody>
      </p:sp>
      <p:sp>
        <p:nvSpPr>
          <p:cNvPr id="254" name="Arrow: Up 253">
            <a:extLst>
              <a:ext uri="{FF2B5EF4-FFF2-40B4-BE49-F238E27FC236}">
                <a16:creationId xmlns:a16="http://schemas.microsoft.com/office/drawing/2014/main" id="{3CC00A3E-448B-4FFA-89E7-48E8284CB8C6}"/>
              </a:ext>
            </a:extLst>
          </p:cNvPr>
          <p:cNvSpPr/>
          <p:nvPr/>
        </p:nvSpPr>
        <p:spPr>
          <a:xfrm>
            <a:off x="11150600" y="4330700"/>
            <a:ext cx="177800" cy="533400"/>
          </a:xfrm>
          <a:prstGeom prst="upArrow">
            <a:avLst/>
          </a:prstGeom>
          <a:solidFill>
            <a:srgbClr val="D6FF3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55" name="Rectangle: Rounded Corners 254">
            <a:extLst>
              <a:ext uri="{FF2B5EF4-FFF2-40B4-BE49-F238E27FC236}">
                <a16:creationId xmlns:a16="http://schemas.microsoft.com/office/drawing/2014/main" id="{EE0BC291-EA9E-43F7-9E4A-3D3608440902}"/>
              </a:ext>
            </a:extLst>
          </p:cNvPr>
          <p:cNvSpPr/>
          <p:nvPr/>
        </p:nvSpPr>
        <p:spPr>
          <a:xfrm>
            <a:off x="4394200" y="4851400"/>
            <a:ext cx="2463800" cy="660400"/>
          </a:xfrm>
          <a:prstGeom prst="roundRect">
            <a:avLst/>
          </a:prstGeom>
          <a:solidFill>
            <a:srgbClr val="10343A"/>
          </a:solidFill>
          <a:ln w="12700" cap="flat" cmpd="sng" algn="ctr">
            <a:solidFill>
              <a:srgbClr val="28545A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56" name="Oval 255">
            <a:extLst>
              <a:ext uri="{FF2B5EF4-FFF2-40B4-BE49-F238E27FC236}">
                <a16:creationId xmlns:a16="http://schemas.microsoft.com/office/drawing/2014/main" id="{9136DE44-0647-4151-B80A-FAECA9B05244}"/>
              </a:ext>
            </a:extLst>
          </p:cNvPr>
          <p:cNvSpPr/>
          <p:nvPr/>
        </p:nvSpPr>
        <p:spPr>
          <a:xfrm>
            <a:off x="4559300" y="5029200"/>
            <a:ext cx="304800" cy="304800"/>
          </a:xfrm>
          <a:prstGeom prst="ellipse">
            <a:avLst/>
          </a:prstGeom>
          <a:solidFill>
            <a:srgbClr val="0A2A30"/>
          </a:solidFill>
          <a:ln w="15240" cap="flat" cmpd="sng" algn="ctr">
            <a:solidFill>
              <a:srgbClr val="5EC8E5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57" name="Rectangle: Rounded Corners 256">
            <a:extLst>
              <a:ext uri="{FF2B5EF4-FFF2-40B4-BE49-F238E27FC236}">
                <a16:creationId xmlns:a16="http://schemas.microsoft.com/office/drawing/2014/main" id="{92795216-8AC5-4CAD-89D9-36F25F0691F5}"/>
              </a:ext>
            </a:extLst>
          </p:cNvPr>
          <p:cNvSpPr/>
          <p:nvPr/>
        </p:nvSpPr>
        <p:spPr>
          <a:xfrm>
            <a:off x="4635500" y="5092700"/>
            <a:ext cx="152400" cy="114300"/>
          </a:xfrm>
          <a:prstGeom prst="roundRect">
            <a:avLst/>
          </a:prstGeom>
          <a:solidFill>
            <a:srgbClr val="09252B"/>
          </a:solidFill>
          <a:ln w="12700" cap="flat" cmpd="sng" algn="ctr">
            <a:solidFill>
              <a:srgbClr val="5EC8E5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58" name="TextBox 257">
            <a:extLst>
              <a:ext uri="{FF2B5EF4-FFF2-40B4-BE49-F238E27FC236}">
                <a16:creationId xmlns:a16="http://schemas.microsoft.com/office/drawing/2014/main" id="{067D8390-AA4D-4C3B-8BD9-3F80AE8802BC}"/>
              </a:ext>
            </a:extLst>
          </p:cNvPr>
          <p:cNvSpPr txBox="1"/>
          <p:nvPr/>
        </p:nvSpPr>
        <p:spPr>
          <a:xfrm>
            <a:off x="5003800" y="4940300"/>
            <a:ext cx="1701800" cy="203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GB" sz="840" b="1">
                <a:solidFill>
                  <a:srgbClr val="5EC8E5"/>
                </a:solidFill>
                <a:latin typeface="Aptos"/>
              </a:rPr>
              <a:t>DATA FOUNDATION</a:t>
            </a:r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7E62DFBD-C131-4306-9835-C92FEEDE8874}"/>
              </a:ext>
            </a:extLst>
          </p:cNvPr>
          <p:cNvSpPr txBox="1"/>
          <p:nvPr/>
        </p:nvSpPr>
        <p:spPr>
          <a:xfrm>
            <a:off x="5003800" y="5168900"/>
            <a:ext cx="1701800" cy="177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GB" sz="720">
                <a:solidFill>
                  <a:srgbClr val="A9CED0"/>
                </a:solidFill>
                <a:latin typeface="Aptos"/>
              </a:rPr>
              <a:t>PostgreSQL • storage • history</a:t>
            </a:r>
          </a:p>
        </p:txBody>
      </p:sp>
      <p:sp>
        <p:nvSpPr>
          <p:cNvPr id="260" name="Arrow: Right 259">
            <a:extLst>
              <a:ext uri="{FF2B5EF4-FFF2-40B4-BE49-F238E27FC236}">
                <a16:creationId xmlns:a16="http://schemas.microsoft.com/office/drawing/2014/main" id="{A2A4D85B-F565-462D-8187-628F8283FDA1}"/>
              </a:ext>
            </a:extLst>
          </p:cNvPr>
          <p:cNvSpPr/>
          <p:nvPr/>
        </p:nvSpPr>
        <p:spPr>
          <a:xfrm>
            <a:off x="6908800" y="5092700"/>
            <a:ext cx="279400" cy="177800"/>
          </a:xfrm>
          <a:prstGeom prst="rightArrow">
            <a:avLst/>
          </a:prstGeom>
          <a:solidFill>
            <a:srgbClr val="5EC8E5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61" name="Rectangle: Rounded Corners 260">
            <a:extLst>
              <a:ext uri="{FF2B5EF4-FFF2-40B4-BE49-F238E27FC236}">
                <a16:creationId xmlns:a16="http://schemas.microsoft.com/office/drawing/2014/main" id="{28827C15-4728-481A-9BDA-583BA9897514}"/>
              </a:ext>
            </a:extLst>
          </p:cNvPr>
          <p:cNvSpPr/>
          <p:nvPr/>
        </p:nvSpPr>
        <p:spPr>
          <a:xfrm>
            <a:off x="533400" y="5765800"/>
            <a:ext cx="11150600" cy="431800"/>
          </a:xfrm>
          <a:prstGeom prst="roundRect">
            <a:avLst/>
          </a:prstGeom>
          <a:solidFill>
            <a:srgbClr val="153F45"/>
          </a:solidFill>
          <a:ln w="12700" cap="flat" cmpd="sng" algn="ctr">
            <a:solidFill>
              <a:srgbClr val="28545A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62" name="TextBox 261">
            <a:extLst>
              <a:ext uri="{FF2B5EF4-FFF2-40B4-BE49-F238E27FC236}">
                <a16:creationId xmlns:a16="http://schemas.microsoft.com/office/drawing/2014/main" id="{203947CD-2730-4CAB-ADF8-005A74DCB177}"/>
              </a:ext>
            </a:extLst>
          </p:cNvPr>
          <p:cNvSpPr txBox="1"/>
          <p:nvPr/>
        </p:nvSpPr>
        <p:spPr>
          <a:xfrm>
            <a:off x="685800" y="5880100"/>
            <a:ext cx="457200" cy="177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GB" sz="800" b="1">
                <a:solidFill>
                  <a:srgbClr val="4FE0B3"/>
                </a:solidFill>
                <a:latin typeface="Aptos"/>
              </a:rPr>
              <a:t>TECH</a:t>
            </a:r>
          </a:p>
        </p:txBody>
      </p:sp>
      <p:sp>
        <p:nvSpPr>
          <p:cNvPr id="263" name="Rectangle: Rounded Corners 262">
            <a:extLst>
              <a:ext uri="{FF2B5EF4-FFF2-40B4-BE49-F238E27FC236}">
                <a16:creationId xmlns:a16="http://schemas.microsoft.com/office/drawing/2014/main" id="{FD82A648-F040-42BE-A701-000C9713343B}"/>
              </a:ext>
            </a:extLst>
          </p:cNvPr>
          <p:cNvSpPr/>
          <p:nvPr/>
        </p:nvSpPr>
        <p:spPr>
          <a:xfrm>
            <a:off x="1219200" y="5842000"/>
            <a:ext cx="1422400" cy="254000"/>
          </a:xfrm>
          <a:prstGeom prst="roundRect">
            <a:avLst/>
          </a:prstGeom>
          <a:solidFill>
            <a:srgbClr val="0C3036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64" name="TextBox 263">
            <a:extLst>
              <a:ext uri="{FF2B5EF4-FFF2-40B4-BE49-F238E27FC236}">
                <a16:creationId xmlns:a16="http://schemas.microsoft.com/office/drawing/2014/main" id="{497C5DB4-36EB-4749-8E3A-8CBE436D443C}"/>
              </a:ext>
            </a:extLst>
          </p:cNvPr>
          <p:cNvSpPr txBox="1"/>
          <p:nvPr/>
        </p:nvSpPr>
        <p:spPr>
          <a:xfrm>
            <a:off x="1270000" y="5880100"/>
            <a:ext cx="1320800" cy="177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GB" sz="680">
                <a:solidFill>
                  <a:srgbClr val="F6FAF9"/>
                </a:solidFill>
                <a:latin typeface="Aptos"/>
              </a:rPr>
              <a:t>React / Flutter</a:t>
            </a:r>
          </a:p>
        </p:txBody>
      </p:sp>
      <p:sp>
        <p:nvSpPr>
          <p:cNvPr id="265" name="Rectangle: Rounded Corners 264">
            <a:extLst>
              <a:ext uri="{FF2B5EF4-FFF2-40B4-BE49-F238E27FC236}">
                <a16:creationId xmlns:a16="http://schemas.microsoft.com/office/drawing/2014/main" id="{5CF8D1C8-2A8B-4A52-BA38-AAC1DE353CDE}"/>
              </a:ext>
            </a:extLst>
          </p:cNvPr>
          <p:cNvSpPr/>
          <p:nvPr/>
        </p:nvSpPr>
        <p:spPr>
          <a:xfrm>
            <a:off x="2768600" y="5842000"/>
            <a:ext cx="1536700" cy="254000"/>
          </a:xfrm>
          <a:prstGeom prst="roundRect">
            <a:avLst/>
          </a:prstGeom>
          <a:solidFill>
            <a:srgbClr val="0C3036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66" name="TextBox 265">
            <a:extLst>
              <a:ext uri="{FF2B5EF4-FFF2-40B4-BE49-F238E27FC236}">
                <a16:creationId xmlns:a16="http://schemas.microsoft.com/office/drawing/2014/main" id="{C0971EEA-E078-48E2-8C29-D8D6E22C58EA}"/>
              </a:ext>
            </a:extLst>
          </p:cNvPr>
          <p:cNvSpPr txBox="1"/>
          <p:nvPr/>
        </p:nvSpPr>
        <p:spPr>
          <a:xfrm>
            <a:off x="2819400" y="5880100"/>
            <a:ext cx="1435100" cy="177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GB" sz="680">
                <a:solidFill>
                  <a:srgbClr val="F6FAF9"/>
                </a:solidFill>
                <a:latin typeface="Aptos"/>
              </a:rPr>
              <a:t>FastAPI / Python</a:t>
            </a:r>
          </a:p>
        </p:txBody>
      </p:sp>
      <p:sp>
        <p:nvSpPr>
          <p:cNvPr id="267" name="Rectangle: Rounded Corners 266">
            <a:extLst>
              <a:ext uri="{FF2B5EF4-FFF2-40B4-BE49-F238E27FC236}">
                <a16:creationId xmlns:a16="http://schemas.microsoft.com/office/drawing/2014/main" id="{D52C6B45-E33E-4312-8D64-C7B0178839E7}"/>
              </a:ext>
            </a:extLst>
          </p:cNvPr>
          <p:cNvSpPr/>
          <p:nvPr/>
        </p:nvSpPr>
        <p:spPr>
          <a:xfrm>
            <a:off x="4432300" y="5842000"/>
            <a:ext cx="1193800" cy="254000"/>
          </a:xfrm>
          <a:prstGeom prst="roundRect">
            <a:avLst/>
          </a:prstGeom>
          <a:solidFill>
            <a:srgbClr val="0C3036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68" name="TextBox 267">
            <a:extLst>
              <a:ext uri="{FF2B5EF4-FFF2-40B4-BE49-F238E27FC236}">
                <a16:creationId xmlns:a16="http://schemas.microsoft.com/office/drawing/2014/main" id="{8232412A-8DCB-46E3-AA83-74B662BB1279}"/>
              </a:ext>
            </a:extLst>
          </p:cNvPr>
          <p:cNvSpPr txBox="1"/>
          <p:nvPr/>
        </p:nvSpPr>
        <p:spPr>
          <a:xfrm>
            <a:off x="4483100" y="5880100"/>
            <a:ext cx="1092200" cy="177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GB" sz="680">
                <a:solidFill>
                  <a:srgbClr val="F6FAF9"/>
                </a:solidFill>
                <a:latin typeface="Aptos"/>
              </a:rPr>
              <a:t>PostgreSQL</a:t>
            </a:r>
          </a:p>
        </p:txBody>
      </p:sp>
      <p:sp>
        <p:nvSpPr>
          <p:cNvPr id="269" name="Rectangle: Rounded Corners 268">
            <a:extLst>
              <a:ext uri="{FF2B5EF4-FFF2-40B4-BE49-F238E27FC236}">
                <a16:creationId xmlns:a16="http://schemas.microsoft.com/office/drawing/2014/main" id="{363168D0-CE64-49F1-A568-E9EC4603028A}"/>
              </a:ext>
            </a:extLst>
          </p:cNvPr>
          <p:cNvSpPr/>
          <p:nvPr/>
        </p:nvSpPr>
        <p:spPr>
          <a:xfrm>
            <a:off x="5753100" y="5842000"/>
            <a:ext cx="1943100" cy="254000"/>
          </a:xfrm>
          <a:prstGeom prst="roundRect">
            <a:avLst/>
          </a:prstGeom>
          <a:solidFill>
            <a:srgbClr val="0C3036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70" name="TextBox 269">
            <a:extLst>
              <a:ext uri="{FF2B5EF4-FFF2-40B4-BE49-F238E27FC236}">
                <a16:creationId xmlns:a16="http://schemas.microsoft.com/office/drawing/2014/main" id="{D21E4607-E55D-4575-A9DA-DE39C7E044FE}"/>
              </a:ext>
            </a:extLst>
          </p:cNvPr>
          <p:cNvSpPr txBox="1"/>
          <p:nvPr/>
        </p:nvSpPr>
        <p:spPr>
          <a:xfrm>
            <a:off x="5803900" y="5880100"/>
            <a:ext cx="1841500" cy="177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GB" sz="680" b="1">
                <a:solidFill>
                  <a:srgbClr val="FF735F"/>
                </a:solidFill>
                <a:latin typeface="Aptos"/>
              </a:rPr>
              <a:t>Qwen / LLaVA + OCR</a:t>
            </a:r>
          </a:p>
        </p:txBody>
      </p:sp>
      <p:sp>
        <p:nvSpPr>
          <p:cNvPr id="271" name="Rectangle: Rounded Corners 270">
            <a:extLst>
              <a:ext uri="{FF2B5EF4-FFF2-40B4-BE49-F238E27FC236}">
                <a16:creationId xmlns:a16="http://schemas.microsoft.com/office/drawing/2014/main" id="{33CF555B-E6B8-46FE-9D78-ECC928ACC5FC}"/>
              </a:ext>
            </a:extLst>
          </p:cNvPr>
          <p:cNvSpPr/>
          <p:nvPr/>
        </p:nvSpPr>
        <p:spPr>
          <a:xfrm>
            <a:off x="7823200" y="5842000"/>
            <a:ext cx="1930400" cy="254000"/>
          </a:xfrm>
          <a:prstGeom prst="roundRect">
            <a:avLst/>
          </a:prstGeom>
          <a:solidFill>
            <a:srgbClr val="0C3036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72" name="TextBox 271">
            <a:extLst>
              <a:ext uri="{FF2B5EF4-FFF2-40B4-BE49-F238E27FC236}">
                <a16:creationId xmlns:a16="http://schemas.microsoft.com/office/drawing/2014/main" id="{748FD3FC-2006-4ED5-9F91-7CCDA23854DE}"/>
              </a:ext>
            </a:extLst>
          </p:cNvPr>
          <p:cNvSpPr txBox="1"/>
          <p:nvPr/>
        </p:nvSpPr>
        <p:spPr>
          <a:xfrm>
            <a:off x="7874000" y="5880100"/>
            <a:ext cx="1828800" cy="177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GB" sz="680">
                <a:solidFill>
                  <a:srgbClr val="F6FAF9"/>
                </a:solidFill>
                <a:latin typeface="Aptos"/>
              </a:rPr>
              <a:t>XGBoost / Time Series</a:t>
            </a:r>
          </a:p>
        </p:txBody>
      </p:sp>
      <p:sp>
        <p:nvSpPr>
          <p:cNvPr id="273" name="Rectangle: Rounded Corners 272">
            <a:extLst>
              <a:ext uri="{FF2B5EF4-FFF2-40B4-BE49-F238E27FC236}">
                <a16:creationId xmlns:a16="http://schemas.microsoft.com/office/drawing/2014/main" id="{FE1B8705-9631-43A6-99C4-BD45621C28C5}"/>
              </a:ext>
            </a:extLst>
          </p:cNvPr>
          <p:cNvSpPr/>
          <p:nvPr/>
        </p:nvSpPr>
        <p:spPr>
          <a:xfrm>
            <a:off x="9880600" y="5842000"/>
            <a:ext cx="1676400" cy="254000"/>
          </a:xfrm>
          <a:prstGeom prst="roundRect">
            <a:avLst/>
          </a:prstGeom>
          <a:solidFill>
            <a:srgbClr val="0C3036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74" name="TextBox 273">
            <a:extLst>
              <a:ext uri="{FF2B5EF4-FFF2-40B4-BE49-F238E27FC236}">
                <a16:creationId xmlns:a16="http://schemas.microsoft.com/office/drawing/2014/main" id="{B856B6ED-8277-4191-9624-334A09A5EF74}"/>
              </a:ext>
            </a:extLst>
          </p:cNvPr>
          <p:cNvSpPr txBox="1"/>
          <p:nvPr/>
        </p:nvSpPr>
        <p:spPr>
          <a:xfrm>
            <a:off x="9931400" y="5880100"/>
            <a:ext cx="1574800" cy="177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GB" sz="680">
                <a:solidFill>
                  <a:srgbClr val="F6FAF9"/>
                </a:solidFill>
                <a:latin typeface="Aptos"/>
              </a:rPr>
              <a:t>Docker • Azure / AWS</a:t>
            </a:r>
          </a:p>
        </p:txBody>
      </p:sp>
      <p:sp>
        <p:nvSpPr>
          <p:cNvPr id="275" name="Rectangle: Rounded Corners 274">
            <a:extLst>
              <a:ext uri="{FF2B5EF4-FFF2-40B4-BE49-F238E27FC236}">
                <a16:creationId xmlns:a16="http://schemas.microsoft.com/office/drawing/2014/main" id="{E85890CE-D9DC-9588-E155-FC1D40E17471}"/>
              </a:ext>
            </a:extLst>
          </p:cNvPr>
          <p:cNvSpPr/>
          <p:nvPr/>
        </p:nvSpPr>
        <p:spPr>
          <a:xfrm>
            <a:off x="7661322" y="2209800"/>
            <a:ext cx="1600200" cy="2209800"/>
          </a:xfrm>
          <a:prstGeom prst="roundRect">
            <a:avLst/>
          </a:prstGeom>
          <a:solidFill>
            <a:srgbClr val="10343A"/>
          </a:solidFill>
          <a:ln w="12700" cap="flat" cmpd="sng" algn="ctr">
            <a:solidFill>
              <a:srgbClr val="28545A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76" name="Oval 275">
            <a:extLst>
              <a:ext uri="{FF2B5EF4-FFF2-40B4-BE49-F238E27FC236}">
                <a16:creationId xmlns:a16="http://schemas.microsoft.com/office/drawing/2014/main" id="{55EB5CF4-2867-3AA5-24C8-593C441C39A0}"/>
              </a:ext>
            </a:extLst>
          </p:cNvPr>
          <p:cNvSpPr/>
          <p:nvPr/>
        </p:nvSpPr>
        <p:spPr>
          <a:xfrm>
            <a:off x="8143922" y="2413000"/>
            <a:ext cx="635000" cy="635000"/>
          </a:xfrm>
          <a:prstGeom prst="ellipse">
            <a:avLst/>
          </a:prstGeom>
          <a:solidFill>
            <a:srgbClr val="0A2A30"/>
          </a:solidFill>
          <a:ln w="16510" cap="flat" cmpd="sng" algn="ctr">
            <a:solidFill>
              <a:srgbClr val="D6FF3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77" name="Oval 276">
            <a:extLst>
              <a:ext uri="{FF2B5EF4-FFF2-40B4-BE49-F238E27FC236}">
                <a16:creationId xmlns:a16="http://schemas.microsoft.com/office/drawing/2014/main" id="{4E731424-4ECB-7D5F-1902-A69FCAEF2EBF}"/>
              </a:ext>
            </a:extLst>
          </p:cNvPr>
          <p:cNvSpPr/>
          <p:nvPr/>
        </p:nvSpPr>
        <p:spPr>
          <a:xfrm>
            <a:off x="8245522" y="2514600"/>
            <a:ext cx="431800" cy="431800"/>
          </a:xfrm>
          <a:prstGeom prst="ellipse">
            <a:avLst/>
          </a:prstGeom>
          <a:solidFill>
            <a:srgbClr val="09252B"/>
          </a:solidFill>
          <a:ln w="17780" cap="flat" cmpd="sng" algn="ctr">
            <a:solidFill>
              <a:srgbClr val="D6FF3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78" name="Rectangle 277">
            <a:extLst>
              <a:ext uri="{FF2B5EF4-FFF2-40B4-BE49-F238E27FC236}">
                <a16:creationId xmlns:a16="http://schemas.microsoft.com/office/drawing/2014/main" id="{19DA3E9C-F0C6-68F3-F3E9-82FE19748E36}"/>
              </a:ext>
            </a:extLst>
          </p:cNvPr>
          <p:cNvSpPr/>
          <p:nvPr/>
        </p:nvSpPr>
        <p:spPr>
          <a:xfrm>
            <a:off x="8347122" y="2730500"/>
            <a:ext cx="88900" cy="25400"/>
          </a:xfrm>
          <a:prstGeom prst="rect">
            <a:avLst/>
          </a:prstGeom>
          <a:solidFill>
            <a:srgbClr val="D6FF3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79" name="Arrow: Right 278">
            <a:extLst>
              <a:ext uri="{FF2B5EF4-FFF2-40B4-BE49-F238E27FC236}">
                <a16:creationId xmlns:a16="http://schemas.microsoft.com/office/drawing/2014/main" id="{20C7AEB3-2D70-79BD-4840-98C88B21AD8A}"/>
              </a:ext>
            </a:extLst>
          </p:cNvPr>
          <p:cNvSpPr/>
          <p:nvPr/>
        </p:nvSpPr>
        <p:spPr>
          <a:xfrm>
            <a:off x="8423322" y="2641600"/>
            <a:ext cx="190500" cy="152400"/>
          </a:xfrm>
          <a:prstGeom prst="rightArrow">
            <a:avLst/>
          </a:prstGeom>
          <a:solidFill>
            <a:srgbClr val="D6FF3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80" name="TextBox 279">
            <a:extLst>
              <a:ext uri="{FF2B5EF4-FFF2-40B4-BE49-F238E27FC236}">
                <a16:creationId xmlns:a16="http://schemas.microsoft.com/office/drawing/2014/main" id="{2E270C36-D142-BFAE-1C55-A39B182C3BA1}"/>
              </a:ext>
            </a:extLst>
          </p:cNvPr>
          <p:cNvSpPr txBox="1"/>
          <p:nvPr/>
        </p:nvSpPr>
        <p:spPr>
          <a:xfrm>
            <a:off x="8006307" y="3200400"/>
            <a:ext cx="1346200" cy="3175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l"/>
            <a:r>
              <a:rPr lang="en-GB" sz="1200" b="1" dirty="0">
                <a:solidFill>
                  <a:srgbClr val="D6FF3F"/>
                </a:solidFill>
                <a:latin typeface="Aptos"/>
              </a:rPr>
              <a:t>VALIDATE</a:t>
            </a:r>
          </a:p>
        </p:txBody>
      </p:sp>
      <p:sp>
        <p:nvSpPr>
          <p:cNvPr id="281" name="TextBox 280">
            <a:extLst>
              <a:ext uri="{FF2B5EF4-FFF2-40B4-BE49-F238E27FC236}">
                <a16:creationId xmlns:a16="http://schemas.microsoft.com/office/drawing/2014/main" id="{8722FE5E-3141-8C06-FF3C-9EFEB6F89433}"/>
              </a:ext>
            </a:extLst>
          </p:cNvPr>
          <p:cNvSpPr txBox="1"/>
          <p:nvPr/>
        </p:nvSpPr>
        <p:spPr>
          <a:xfrm>
            <a:off x="7988300" y="3581400"/>
            <a:ext cx="1016000" cy="5715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 lnSpcReduction="10000"/>
          </a:bodyPr>
          <a:lstStyle/>
          <a:p>
            <a:r>
              <a:rPr lang="en-GB" sz="850" dirty="0">
                <a:solidFill>
                  <a:srgbClr val="A9CED0"/>
                </a:solidFill>
                <a:latin typeface="Aptos"/>
              </a:rPr>
              <a:t>• Match &amp; Verify </a:t>
            </a:r>
          </a:p>
          <a:p>
            <a:r>
              <a:rPr lang="en-GB" sz="850" dirty="0">
                <a:solidFill>
                  <a:srgbClr val="A9CED0"/>
                </a:solidFill>
                <a:latin typeface="Aptos"/>
              </a:rPr>
              <a:t>•  Update DB </a:t>
            </a:r>
          </a:p>
          <a:p>
            <a:r>
              <a:rPr lang="en-GB" sz="850" dirty="0">
                <a:solidFill>
                  <a:srgbClr val="A9CED0"/>
                </a:solidFill>
                <a:latin typeface="Aptos"/>
              </a:rPr>
              <a:t>•  FEFO </a:t>
            </a:r>
          </a:p>
          <a:p>
            <a:r>
              <a:rPr lang="en-GB" sz="850" dirty="0">
                <a:solidFill>
                  <a:srgbClr val="A9CED0"/>
                </a:solidFill>
                <a:latin typeface="Aptos"/>
              </a:rPr>
              <a:t>• Price</a:t>
            </a:r>
          </a:p>
        </p:txBody>
      </p:sp>
      <p:sp>
        <p:nvSpPr>
          <p:cNvPr id="282" name="Arrow: Right 281">
            <a:extLst>
              <a:ext uri="{FF2B5EF4-FFF2-40B4-BE49-F238E27FC236}">
                <a16:creationId xmlns:a16="http://schemas.microsoft.com/office/drawing/2014/main" id="{3AA44798-D633-BEFE-D2F5-EB46D675C2A9}"/>
              </a:ext>
            </a:extLst>
          </p:cNvPr>
          <p:cNvSpPr/>
          <p:nvPr/>
        </p:nvSpPr>
        <p:spPr>
          <a:xfrm>
            <a:off x="9544050" y="3270250"/>
            <a:ext cx="254000" cy="177800"/>
          </a:xfrm>
          <a:prstGeom prst="rightArrow">
            <a:avLst/>
          </a:prstGeom>
          <a:solidFill>
            <a:srgbClr val="6C9699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83" name="Rectangle: Rounded Corners 282">
            <a:extLst>
              <a:ext uri="{FF2B5EF4-FFF2-40B4-BE49-F238E27FC236}">
                <a16:creationId xmlns:a16="http://schemas.microsoft.com/office/drawing/2014/main" id="{EFD7B83E-7F6D-8831-E5A8-12D60DCDD00A}"/>
              </a:ext>
            </a:extLst>
          </p:cNvPr>
          <p:cNvSpPr/>
          <p:nvPr/>
        </p:nvSpPr>
        <p:spPr>
          <a:xfrm>
            <a:off x="5338928" y="2279650"/>
            <a:ext cx="1600200" cy="2209800"/>
          </a:xfrm>
          <a:prstGeom prst="roundRect">
            <a:avLst/>
          </a:prstGeom>
          <a:solidFill>
            <a:srgbClr val="143B3C"/>
          </a:solidFill>
          <a:ln w="27940" cap="flat" cmpd="sng" algn="ctr">
            <a:solidFill>
              <a:srgbClr val="FF735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84" name="Oval 283">
            <a:extLst>
              <a:ext uri="{FF2B5EF4-FFF2-40B4-BE49-F238E27FC236}">
                <a16:creationId xmlns:a16="http://schemas.microsoft.com/office/drawing/2014/main" id="{14B765D7-2FD0-BA66-BBBB-3CFAC8FED3C2}"/>
              </a:ext>
            </a:extLst>
          </p:cNvPr>
          <p:cNvSpPr/>
          <p:nvPr/>
        </p:nvSpPr>
        <p:spPr>
          <a:xfrm>
            <a:off x="5821528" y="2482850"/>
            <a:ext cx="635000" cy="635000"/>
          </a:xfrm>
          <a:prstGeom prst="ellipse">
            <a:avLst/>
          </a:prstGeom>
          <a:solidFill>
            <a:srgbClr val="0A2A30"/>
          </a:solidFill>
          <a:ln w="16510" cap="flat" cmpd="sng" algn="ctr">
            <a:solidFill>
              <a:srgbClr val="FF735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85" name="Oval 284">
            <a:extLst>
              <a:ext uri="{FF2B5EF4-FFF2-40B4-BE49-F238E27FC236}">
                <a16:creationId xmlns:a16="http://schemas.microsoft.com/office/drawing/2014/main" id="{0F859071-98C3-24E7-A7FC-2AFD685094A2}"/>
              </a:ext>
            </a:extLst>
          </p:cNvPr>
          <p:cNvSpPr/>
          <p:nvPr/>
        </p:nvSpPr>
        <p:spPr>
          <a:xfrm>
            <a:off x="5986628" y="2647950"/>
            <a:ext cx="304800" cy="304800"/>
          </a:xfrm>
          <a:prstGeom prst="ellipse">
            <a:avLst/>
          </a:prstGeom>
          <a:solidFill>
            <a:srgbClr val="09252B"/>
          </a:solidFill>
          <a:ln w="17780" cap="flat" cmpd="sng" algn="ctr">
            <a:solidFill>
              <a:srgbClr val="FF735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86" name="Oval 285">
            <a:extLst>
              <a:ext uri="{FF2B5EF4-FFF2-40B4-BE49-F238E27FC236}">
                <a16:creationId xmlns:a16="http://schemas.microsoft.com/office/drawing/2014/main" id="{B12595D9-6A87-A95D-29C2-54C41796DF1A}"/>
              </a:ext>
            </a:extLst>
          </p:cNvPr>
          <p:cNvSpPr/>
          <p:nvPr/>
        </p:nvSpPr>
        <p:spPr>
          <a:xfrm>
            <a:off x="6088228" y="2749550"/>
            <a:ext cx="101600" cy="101600"/>
          </a:xfrm>
          <a:prstGeom prst="ellipse">
            <a:avLst/>
          </a:prstGeom>
          <a:solidFill>
            <a:srgbClr val="FF735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87" name="Rectangle 286">
            <a:extLst>
              <a:ext uri="{FF2B5EF4-FFF2-40B4-BE49-F238E27FC236}">
                <a16:creationId xmlns:a16="http://schemas.microsoft.com/office/drawing/2014/main" id="{5C28AF52-5BF8-78A5-ACE9-27F92DD1788B}"/>
              </a:ext>
            </a:extLst>
          </p:cNvPr>
          <p:cNvSpPr/>
          <p:nvPr/>
        </p:nvSpPr>
        <p:spPr>
          <a:xfrm>
            <a:off x="5910428" y="2800350"/>
            <a:ext cx="101600" cy="25400"/>
          </a:xfrm>
          <a:prstGeom prst="rect">
            <a:avLst/>
          </a:prstGeom>
          <a:solidFill>
            <a:srgbClr val="FF735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88" name="Rectangle 287">
            <a:extLst>
              <a:ext uri="{FF2B5EF4-FFF2-40B4-BE49-F238E27FC236}">
                <a16:creationId xmlns:a16="http://schemas.microsoft.com/office/drawing/2014/main" id="{FC958CFA-FE77-4456-1642-59A0F8C84560}"/>
              </a:ext>
            </a:extLst>
          </p:cNvPr>
          <p:cNvSpPr/>
          <p:nvPr/>
        </p:nvSpPr>
        <p:spPr>
          <a:xfrm>
            <a:off x="6266028" y="2800350"/>
            <a:ext cx="101600" cy="25400"/>
          </a:xfrm>
          <a:prstGeom prst="rect">
            <a:avLst/>
          </a:prstGeom>
          <a:solidFill>
            <a:srgbClr val="FF735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89" name="Rectangle 288">
            <a:extLst>
              <a:ext uri="{FF2B5EF4-FFF2-40B4-BE49-F238E27FC236}">
                <a16:creationId xmlns:a16="http://schemas.microsoft.com/office/drawing/2014/main" id="{DD6BDE1E-E3DD-EE20-C436-8E4A13957C88}"/>
              </a:ext>
            </a:extLst>
          </p:cNvPr>
          <p:cNvSpPr/>
          <p:nvPr/>
        </p:nvSpPr>
        <p:spPr>
          <a:xfrm>
            <a:off x="6139028" y="2571750"/>
            <a:ext cx="25400" cy="101600"/>
          </a:xfrm>
          <a:prstGeom prst="rect">
            <a:avLst/>
          </a:prstGeom>
          <a:solidFill>
            <a:srgbClr val="FF735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90" name="Rectangle 289">
            <a:extLst>
              <a:ext uri="{FF2B5EF4-FFF2-40B4-BE49-F238E27FC236}">
                <a16:creationId xmlns:a16="http://schemas.microsoft.com/office/drawing/2014/main" id="{6559095F-7D8A-2634-813F-225B5D261456}"/>
              </a:ext>
            </a:extLst>
          </p:cNvPr>
          <p:cNvSpPr/>
          <p:nvPr/>
        </p:nvSpPr>
        <p:spPr>
          <a:xfrm>
            <a:off x="6139028" y="2927350"/>
            <a:ext cx="25400" cy="101600"/>
          </a:xfrm>
          <a:prstGeom prst="rect">
            <a:avLst/>
          </a:prstGeom>
          <a:solidFill>
            <a:srgbClr val="FF735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91" name="TextBox 290">
            <a:extLst>
              <a:ext uri="{FF2B5EF4-FFF2-40B4-BE49-F238E27FC236}">
                <a16:creationId xmlns:a16="http://schemas.microsoft.com/office/drawing/2014/main" id="{CE95B3D2-5EF2-FD16-0D2A-7ED041AEBFB9}"/>
              </a:ext>
            </a:extLst>
          </p:cNvPr>
          <p:cNvSpPr txBox="1"/>
          <p:nvPr/>
        </p:nvSpPr>
        <p:spPr>
          <a:xfrm>
            <a:off x="5549331" y="3155950"/>
            <a:ext cx="1346200" cy="3175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l"/>
            <a:r>
              <a:rPr lang="en-GB" sz="1200" b="1" dirty="0">
                <a:solidFill>
                  <a:srgbClr val="FF735F"/>
                </a:solidFill>
                <a:latin typeface="Aptos"/>
              </a:rPr>
              <a:t>VISION AI &amp; ML</a:t>
            </a:r>
          </a:p>
        </p:txBody>
      </p:sp>
      <p:sp>
        <p:nvSpPr>
          <p:cNvPr id="292" name="TextBox 291">
            <a:extLst>
              <a:ext uri="{FF2B5EF4-FFF2-40B4-BE49-F238E27FC236}">
                <a16:creationId xmlns:a16="http://schemas.microsoft.com/office/drawing/2014/main" id="{BE2568DD-1D74-3481-BE48-826370928991}"/>
              </a:ext>
            </a:extLst>
          </p:cNvPr>
          <p:cNvSpPr txBox="1"/>
          <p:nvPr/>
        </p:nvSpPr>
        <p:spPr>
          <a:xfrm>
            <a:off x="5461000" y="3581400"/>
            <a:ext cx="1524000" cy="533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 fontScale="92500" lnSpcReduction="10000"/>
          </a:bodyPr>
          <a:lstStyle/>
          <a:p>
            <a:r>
              <a:rPr lang="en-GB" sz="850" dirty="0">
                <a:solidFill>
                  <a:srgbClr val="A9CED0"/>
                </a:solidFill>
                <a:latin typeface="Aptos"/>
              </a:rPr>
              <a:t>• </a:t>
            </a:r>
            <a:r>
              <a:rPr lang="en-IN" sz="850" dirty="0">
                <a:solidFill>
                  <a:srgbClr val="A9CED0"/>
                </a:solidFill>
                <a:latin typeface="Aptos"/>
              </a:rPr>
              <a:t>Recognize medicine info</a:t>
            </a:r>
          </a:p>
          <a:p>
            <a:r>
              <a:rPr lang="en-IN" sz="850" dirty="0">
                <a:solidFill>
                  <a:srgbClr val="A9CED0"/>
                </a:solidFill>
                <a:latin typeface="Aptos"/>
              </a:rPr>
              <a:t> </a:t>
            </a:r>
            <a:r>
              <a:rPr lang="en-GB" sz="850" dirty="0">
                <a:solidFill>
                  <a:srgbClr val="A9CED0"/>
                </a:solidFill>
                <a:latin typeface="Aptos"/>
              </a:rPr>
              <a:t>• </a:t>
            </a:r>
            <a:r>
              <a:rPr lang="en-IN" sz="850" dirty="0">
                <a:solidFill>
                  <a:srgbClr val="A9CED0"/>
                </a:solidFill>
                <a:latin typeface="Aptos"/>
              </a:rPr>
              <a:t>Extract batch  info</a:t>
            </a:r>
          </a:p>
          <a:p>
            <a:r>
              <a:rPr lang="en-IN" sz="850" dirty="0">
                <a:solidFill>
                  <a:srgbClr val="A9CED0"/>
                </a:solidFill>
                <a:latin typeface="Aptos"/>
              </a:rPr>
              <a:t> </a:t>
            </a:r>
            <a:r>
              <a:rPr lang="en-GB" sz="850" dirty="0">
                <a:solidFill>
                  <a:srgbClr val="A9CED0"/>
                </a:solidFill>
                <a:latin typeface="Aptos"/>
              </a:rPr>
              <a:t>• </a:t>
            </a:r>
            <a:r>
              <a:rPr lang="en-IN" sz="850" dirty="0">
                <a:solidFill>
                  <a:srgbClr val="A9CED0"/>
                </a:solidFill>
                <a:latin typeface="Aptos"/>
              </a:rPr>
              <a:t>Expiry  Date</a:t>
            </a:r>
          </a:p>
          <a:p>
            <a:r>
              <a:rPr lang="en-GB" sz="850" dirty="0">
                <a:solidFill>
                  <a:srgbClr val="A9CED0"/>
                </a:solidFill>
                <a:latin typeface="Aptos"/>
              </a:rPr>
              <a:t>•  Build Demand analysis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8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1384280" y="-320040"/>
            <a:ext cx="1325880" cy="1325880"/>
          </a:xfrm>
          <a:prstGeom prst="ellipse">
            <a:avLst/>
          </a:prstGeom>
          <a:solidFill>
            <a:srgbClr val="0A2227"/>
          </a:solidFill>
          <a:ln>
            <a:solidFill>
              <a:srgbClr val="0A2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737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4CE1AB"/>
                </a:solidFill>
                <a:latin typeface="Aptos"/>
              </a:rPr>
              <a:t>DOSEDECK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48840" y="256032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A1B8B5"/>
                </a:solidFill>
                <a:latin typeface="Aptos"/>
              </a:rPr>
              <a:t>THE OPPORTUNITY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73968" y="6446520"/>
            <a:ext cx="5029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>
                <a:solidFill>
                  <a:srgbClr val="A1B8B5"/>
                </a:solidFill>
                <a:latin typeface="Aptos"/>
              </a:rPr>
              <a:t>06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82512"/>
            <a:ext cx="10195559" cy="13716"/>
          </a:xfrm>
          <a:prstGeom prst="rect">
            <a:avLst/>
          </a:prstGeom>
          <a:solidFill>
            <a:srgbClr val="2B4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40080" y="768096"/>
            <a:ext cx="2011680" cy="310896"/>
          </a:xfrm>
          <a:prstGeom prst="roundRect">
            <a:avLst/>
          </a:prstGeom>
          <a:solidFill>
            <a:srgbClr val="15393D"/>
          </a:solidFill>
          <a:ln w="12700">
            <a:solidFill>
              <a:srgbClr val="153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777240"/>
            <a:ext cx="201168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4CE1AB"/>
                </a:solidFill>
                <a:latin typeface="Aptos"/>
              </a:rPr>
              <a:t>THE NEXT OPERATING LAYER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344168"/>
            <a:ext cx="7498079" cy="11155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500" b="1">
                <a:solidFill>
                  <a:srgbClr val="F4F9F7"/>
                </a:solidFill>
                <a:latin typeface="Aptos"/>
              </a:rPr>
              <a:t>From reactive operations
to a learning system.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697480"/>
            <a:ext cx="66294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A1B8B5"/>
                </a:solidFill>
                <a:latin typeface="Aptos"/>
              </a:rPr>
              <a:t>DoseDeck starts with the moments where clarity matters most—then compounds into an operational advantage that gets stronger with every verified action.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050791"/>
            <a:ext cx="2057400" cy="1042415"/>
          </a:xfrm>
          <a:prstGeom prst="roundRect">
            <a:avLst/>
          </a:prstGeom>
          <a:solidFill>
            <a:srgbClr val="0F2D32"/>
          </a:solidFill>
          <a:ln w="12700">
            <a:solidFill>
              <a:srgbClr val="2B4D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41247" y="4279392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4CE1AB"/>
                </a:solidFill>
                <a:latin typeface="Aptos"/>
              </a:rPr>
              <a:t>SEE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7" y="4590288"/>
            <a:ext cx="162763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F4F9F7"/>
                </a:solidFill>
                <a:latin typeface="Aptos"/>
              </a:rPr>
              <a:t>Blind spots earlier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971800" y="4050791"/>
            <a:ext cx="2057400" cy="1042415"/>
          </a:xfrm>
          <a:prstGeom prst="roundRect">
            <a:avLst/>
          </a:prstGeom>
          <a:solidFill>
            <a:srgbClr val="0F2D32"/>
          </a:solidFill>
          <a:ln w="12700">
            <a:solidFill>
              <a:srgbClr val="2B4D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172968" y="4279392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4CE1AB"/>
                </a:solidFill>
                <a:latin typeface="Aptos"/>
              </a:rPr>
              <a:t>DECIDE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72968" y="4590288"/>
            <a:ext cx="162763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F4F9F7"/>
                </a:solidFill>
                <a:latin typeface="Aptos"/>
              </a:rPr>
              <a:t>With confidence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03520" y="4050791"/>
            <a:ext cx="2057400" cy="1042415"/>
          </a:xfrm>
          <a:prstGeom prst="roundRect">
            <a:avLst/>
          </a:prstGeom>
          <a:solidFill>
            <a:srgbClr val="0F2D32"/>
          </a:solidFill>
          <a:ln w="12700">
            <a:solidFill>
              <a:srgbClr val="2B4D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504688" y="4279392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CBF15B"/>
                </a:solidFill>
                <a:latin typeface="Aptos"/>
              </a:rPr>
              <a:t>ACT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04688" y="4590288"/>
            <a:ext cx="162763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F4F9F7"/>
                </a:solidFill>
                <a:latin typeface="Aptos"/>
              </a:rPr>
              <a:t>Without disruption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75320" y="1179576"/>
            <a:ext cx="3127248" cy="4187952"/>
          </a:xfrm>
          <a:prstGeom prst="roundRect">
            <a:avLst/>
          </a:prstGeom>
          <a:solidFill>
            <a:srgbClr val="15393D"/>
          </a:solidFill>
          <a:ln w="12700">
            <a:solidFill>
              <a:srgbClr val="2B4D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9180576" y="1709928"/>
            <a:ext cx="1316736" cy="1316736"/>
          </a:xfrm>
          <a:prstGeom prst="ellipse">
            <a:avLst/>
          </a:prstGeom>
          <a:solidFill>
            <a:srgbClr val="4CE1AB"/>
          </a:solidFill>
          <a:ln>
            <a:solidFill>
              <a:srgbClr val="4CE1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80576" y="2084831"/>
            <a:ext cx="1316736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>
                <a:solidFill>
                  <a:srgbClr val="06181D"/>
                </a:solidFill>
                <a:latin typeface="Aptos"/>
              </a:rPr>
              <a:t>DD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41080" y="3337560"/>
            <a:ext cx="239572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>
                <a:solidFill>
                  <a:srgbClr val="F4F9F7"/>
                </a:solidFill>
                <a:latin typeface="Aptos"/>
              </a:rPr>
              <a:t>DoseDeck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41080" y="3913632"/>
            <a:ext cx="2395728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>
                <a:solidFill>
                  <a:srgbClr val="CBF15B"/>
                </a:solidFill>
                <a:latin typeface="Aptos"/>
              </a:rPr>
              <a:t>NAVIGATE
HEALTHCARE
SMARTER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02168" y="5715000"/>
            <a:ext cx="333756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>
                <a:solidFill>
                  <a:srgbClr val="F4F9F7"/>
                </a:solidFill>
                <a:latin typeface="Aptos"/>
              </a:rPr>
              <a:t>Let’s build the intelligence
behind better operations.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B824695E-FBA4-47BC-ABBC-EE24D927B364}">
  <we:reference id="cba9fc06-6fc9-492e-9525-923870a3b909" version="2.0.0.0" store="EXCatalog" storeType="EXCatalog"/>
  <we:alternateReferences>
    <we:reference id="WA200010215" version="2.0.0.0" store="en-GB" storeType="OMEX"/>
  </we:alternateReferences>
  <we:properties>
    <we:property name="bps.codex_control.document_id" value="&quot;77c9956e-cefc-4345-851b-5c43105f7f5f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6056</TotalTime>
  <Words>578</Words>
  <Application>Microsoft Office PowerPoint</Application>
  <PresentationFormat>Widescreen</PresentationFormat>
  <Paragraphs>167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DoseDeck — Hackathon Concept</dc:title>
  <dc:subject>Six-slide concept, architecture and defensibility deck</dc:subject>
  <dc:creator>DoseDeck Team</dc:creator>
  <cp:keywords>DoseDeck, healthcare operations, AI, architecture, hackathon</cp:keywords>
  <dc:description>High-level concept deck. Implementation details intentionally abstracted.</dc:description>
  <cp:lastModifiedBy>Singh, Nikhil (Data Evidence and Performance)</cp:lastModifiedBy>
  <cp:revision>7</cp:revision>
  <dcterms:created xsi:type="dcterms:W3CDTF">2013-01-27T09:14:16Z</dcterms:created>
  <dcterms:modified xsi:type="dcterms:W3CDTF">2026-09-06T10:40:20Z</dcterms:modified>
  <cp:category/>
</cp:coreProperties>
</file>